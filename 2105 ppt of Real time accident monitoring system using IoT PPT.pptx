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9" r:id="rId3"/>
    <p:sldId id="260" r:id="rId4"/>
    <p:sldId id="261" r:id="rId5"/>
    <p:sldId id="262" r:id="rId6"/>
    <p:sldId id="274" r:id="rId7"/>
    <p:sldId id="275" r:id="rId8"/>
    <p:sldId id="263" r:id="rId9"/>
    <p:sldId id="264" r:id="rId10"/>
    <p:sldId id="265" r:id="rId11"/>
    <p:sldId id="276" r:id="rId12"/>
    <p:sldId id="283" r:id="rId13"/>
    <p:sldId id="284" r:id="rId14"/>
    <p:sldId id="285" r:id="rId15"/>
    <p:sldId id="286" r:id="rId16"/>
    <p:sldId id="287" r:id="rId17"/>
    <p:sldId id="278" r:id="rId18"/>
    <p:sldId id="277" r:id="rId19"/>
    <p:sldId id="267" r:id="rId20"/>
    <p:sldId id="289" r:id="rId21"/>
    <p:sldId id="279" r:id="rId22"/>
    <p:sldId id="280" r:id="rId23"/>
    <p:sldId id="290" r:id="rId24"/>
    <p:sldId id="291" r:id="rId25"/>
    <p:sldId id="281" r:id="rId26"/>
    <p:sldId id="271" r:id="rId27"/>
    <p:sldId id="282" r:id="rId28"/>
    <p:sldId id="268" r:id="rId29"/>
    <p:sldId id="288" r:id="rId30"/>
    <p:sldId id="269"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ECE8"/>
    <a:srgbClr val="F2ECE8"/>
    <a:srgbClr val="AE126F"/>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89935" autoAdjust="0"/>
  </p:normalViewPr>
  <p:slideViewPr>
    <p:cSldViewPr showGuides="1">
      <p:cViewPr varScale="1">
        <p:scale>
          <a:sx n="74" d="100"/>
          <a:sy n="74" d="100"/>
        </p:scale>
        <p:origin x="149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34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5D11C97-AD25-4501-A938-FC0932FC4CCB}"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D7AAD-269E-4268-A482-FCE5EF9818B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5D11C97-AD25-4501-A938-FC0932FC4CCB}"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D7AAD-269E-4268-A482-FCE5EF9818B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D11C97-AD25-4501-A938-FC0932FC4CCB}"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D7AAD-269E-4268-A482-FCE5EF9818B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5D11C97-AD25-4501-A938-FC0932FC4CCB}"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2D7AAD-269E-4268-A482-FCE5EF9818B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5D11C97-AD25-4501-A938-FC0932FC4CCB}" type="datetimeFigureOut">
              <a:rPr lang="en-US" smtClean="0"/>
              <a:t>4/15/2025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2D7AAD-269E-4268-A482-FCE5EF9818B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5D11C97-AD25-4501-A938-FC0932FC4CCB}" type="datetimeFigureOut">
              <a:rPr lang="en-US" smtClean="0"/>
              <a:t>4/15/2025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2D7AAD-269E-4268-A482-FCE5EF9818B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D11C97-AD25-4501-A938-FC0932FC4CCB}" type="datetimeFigureOut">
              <a:rPr lang="en-US" smtClean="0"/>
              <a:t>4/15/2025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2D7AAD-269E-4268-A482-FCE5EF9818B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D11C97-AD25-4501-A938-FC0932FC4CCB}"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2D7AAD-269E-4268-A482-FCE5EF9818B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D11C97-AD25-4501-A938-FC0932FC4CCB}"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2D7AAD-269E-4268-A482-FCE5EF9818B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5D11C97-AD25-4501-A938-FC0932FC4CCB}"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D7AAD-269E-4268-A482-FCE5EF9818B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5D11C97-AD25-4501-A938-FC0932FC4CCB}"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D7AAD-269E-4268-A482-FCE5EF9818B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D11C97-AD25-4501-A938-FC0932FC4CCB}" type="datetimeFigureOut">
              <a:rPr lang="en-US" smtClean="0"/>
              <a:t>4/15/2025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12D7AAD-269E-4268-A482-FCE5EF9818B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374951" y="751690"/>
            <a:ext cx="8786874" cy="369332"/>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321439" y="476672"/>
            <a:ext cx="8138993" cy="1785104"/>
          </a:xfrm>
          <a:prstGeom prst="rect">
            <a:avLst/>
          </a:prstGeom>
          <a:noFill/>
        </p:spPr>
        <p:txBody>
          <a:bodyPr wrap="square" rtlCol="0">
            <a:spAutoFit/>
          </a:bodyPr>
          <a:lstStyle/>
          <a:p>
            <a:pPr algn="ctr"/>
            <a:r>
              <a:rPr lang="en-US" sz="2800" b="1" u="sng" dirty="0">
                <a:latin typeface="Times New Roman" panose="02020603050405020304" pitchFamily="18" charset="0"/>
                <a:cs typeface="Times New Roman" panose="02020603050405020304" pitchFamily="18" charset="0"/>
              </a:rPr>
              <a:t>REAL-TIME ACCIDENT MONITORING SYSTEM USING IoT</a:t>
            </a:r>
            <a:endParaRPr lang="en-US" b="1" u="sng"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By</a:t>
            </a:r>
          </a:p>
          <a:p>
            <a:pPr algn="ctr"/>
            <a:r>
              <a:rPr lang="en-US" b="1" dirty="0">
                <a:latin typeface="Times New Roman" panose="02020603050405020304" pitchFamily="18" charset="0"/>
                <a:cs typeface="Times New Roman" panose="02020603050405020304" pitchFamily="18" charset="0"/>
              </a:rPr>
              <a:t>Batch-2105</a:t>
            </a:r>
          </a:p>
        </p:txBody>
      </p:sp>
      <p:sp>
        <p:nvSpPr>
          <p:cNvPr id="23" name="TextBox 22"/>
          <p:cNvSpPr txBox="1"/>
          <p:nvPr/>
        </p:nvSpPr>
        <p:spPr>
          <a:xfrm>
            <a:off x="2051720" y="2434782"/>
            <a:ext cx="5328592" cy="1569660"/>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M Gowthami                                      214G1A0430</a:t>
            </a:r>
          </a:p>
          <a:p>
            <a:r>
              <a:rPr lang="en-US" sz="1600" b="1" dirty="0">
                <a:latin typeface="Times New Roman" panose="02020603050405020304" pitchFamily="18" charset="0"/>
                <a:cs typeface="Times New Roman" panose="02020603050405020304" pitchFamily="18" charset="0"/>
              </a:rPr>
              <a:t>K Govardhan Reddy                         214G1A0428</a:t>
            </a:r>
          </a:p>
          <a:p>
            <a:r>
              <a:rPr lang="en-US" sz="1600" b="1" dirty="0">
                <a:latin typeface="Times New Roman" panose="02020603050405020304" pitchFamily="18" charset="0"/>
                <a:cs typeface="Times New Roman" panose="02020603050405020304" pitchFamily="18" charset="0"/>
              </a:rPr>
              <a:t>N Ambika                                           214G1A0404</a:t>
            </a:r>
          </a:p>
          <a:p>
            <a:r>
              <a:rPr lang="en-US" sz="1600" b="1" dirty="0">
                <a:latin typeface="Times New Roman" panose="02020603050405020304" pitchFamily="18" charset="0"/>
                <a:cs typeface="Times New Roman" panose="02020603050405020304" pitchFamily="18" charset="0"/>
              </a:rPr>
              <a:t>B Deepak                                            214G1A0419</a:t>
            </a:r>
          </a:p>
          <a:p>
            <a:r>
              <a:rPr lang="en-US" sz="1600" b="1" dirty="0">
                <a:latin typeface="Times New Roman" panose="02020603050405020304" pitchFamily="18" charset="0"/>
                <a:cs typeface="Times New Roman" panose="02020603050405020304" pitchFamily="18" charset="0"/>
              </a:rPr>
              <a:t> </a:t>
            </a:r>
          </a:p>
          <a:p>
            <a:pPr algn="ctr"/>
            <a:endParaRPr lang="en-US" sz="1600" b="1" dirty="0">
              <a:latin typeface="Times New Roman" panose="02020603050405020304" pitchFamily="18" charset="0"/>
              <a:cs typeface="Times New Roman" panose="02020603050405020304" pitchFamily="18" charset="0"/>
            </a:endParaRPr>
          </a:p>
        </p:txBody>
      </p:sp>
      <p:sp>
        <p:nvSpPr>
          <p:cNvPr id="27" name="TextBox 26"/>
          <p:cNvSpPr txBox="1"/>
          <p:nvPr/>
        </p:nvSpPr>
        <p:spPr>
          <a:xfrm>
            <a:off x="33217" y="4125234"/>
            <a:ext cx="8715436" cy="1200329"/>
          </a:xfrm>
          <a:prstGeom prst="rect">
            <a:avLst/>
          </a:prstGeom>
          <a:noFill/>
        </p:spPr>
        <p:txBody>
          <a:bodyPr wrap="square" rtlCol="0">
            <a:spAutoFit/>
          </a:bodyPr>
          <a:lstStyle/>
          <a:p>
            <a:pPr lvl="1" algn="ctr"/>
            <a:r>
              <a:rPr lang="en-US" dirty="0">
                <a:latin typeface="Times New Roman" panose="02020603050405020304" pitchFamily="18" charset="0"/>
                <a:cs typeface="Times New Roman" panose="02020603050405020304" pitchFamily="18" charset="0"/>
              </a:rPr>
              <a:t>Under</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esteemed</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guidance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of</a:t>
            </a:r>
          </a:p>
          <a:p>
            <a:pPr lvl="1" algn="ct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Dr. K Dada Sikandar,  </a:t>
            </a:r>
            <a:r>
              <a:rPr lang="en-US" sz="1400" dirty="0">
                <a:latin typeface="Times New Roman" panose="02020603050405020304" pitchFamily="18" charset="0"/>
                <a:cs typeface="Times New Roman" panose="02020603050405020304" pitchFamily="18" charset="0"/>
              </a:rPr>
              <a:t>M . Tech., Ph.D.</a:t>
            </a:r>
            <a:r>
              <a:rPr lang="en-US" dirty="0">
                <a:latin typeface="Times New Roman" panose="02020603050405020304" pitchFamily="18" charset="0"/>
                <a:cs typeface="Times New Roman" panose="02020603050405020304" pitchFamily="18" charset="0"/>
              </a:rPr>
              <a:t>   </a:t>
            </a:r>
          </a:p>
          <a:p>
            <a:pPr lvl="1" algn="ctr"/>
            <a:r>
              <a:rPr lang="en-US"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Associate Professor, ECE Dept.,                                 </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p>
        </p:txBody>
      </p:sp>
      <p:pic>
        <p:nvPicPr>
          <p:cNvPr id="29" name="image1.png"/>
          <p:cNvPicPr/>
          <p:nvPr/>
        </p:nvPicPr>
        <p:blipFill>
          <a:blip r:embed="rId2" cstate="print"/>
          <a:stretch>
            <a:fillRect/>
          </a:stretch>
        </p:blipFill>
        <p:spPr>
          <a:xfrm>
            <a:off x="128874" y="5201291"/>
            <a:ext cx="1571636" cy="1378056"/>
          </a:xfrm>
          <a:prstGeom prst="rect">
            <a:avLst/>
          </a:prstGeom>
        </p:spPr>
      </p:pic>
      <p:sp>
        <p:nvSpPr>
          <p:cNvPr id="32" name="TextBox 31"/>
          <p:cNvSpPr txBox="1"/>
          <p:nvPr/>
        </p:nvSpPr>
        <p:spPr>
          <a:xfrm>
            <a:off x="1700510" y="5729102"/>
            <a:ext cx="7314616" cy="563167"/>
          </a:xfrm>
          <a:prstGeom prst="rect">
            <a:avLst/>
          </a:prstGeom>
          <a:noFill/>
        </p:spPr>
        <p:txBody>
          <a:bodyPr wrap="square" rtlCol="0">
            <a:spAutoFit/>
          </a:bodyPr>
          <a:lstStyle/>
          <a:p>
            <a:pPr algn="ctr">
              <a:lnSpc>
                <a:spcPct val="115000"/>
              </a:lnSpc>
            </a:pPr>
            <a:r>
              <a:rPr lang="en-US" sz="1400" b="1" cap="all" dirty="0">
                <a:solidFill>
                  <a:srgbClr val="D80202"/>
                </a:solidFill>
                <a:effectLst/>
                <a:latin typeface="Verdana" panose="020B0604030504040204" pitchFamily="34" charset="0"/>
                <a:ea typeface="Times New Roman" panose="02020603050405020304" pitchFamily="18" charset="0"/>
                <a:cs typeface="Times New Roman" panose="02020603050405020304" pitchFamily="18" charset="0"/>
              </a:rPr>
              <a:t>Srinivasa Ramanujan Institute of Technology </a:t>
            </a:r>
            <a:r>
              <a:rPr lang="en-US" sz="1400" b="1" cap="all" dirty="0">
                <a:solidFill>
                  <a:srgbClr val="0070C0"/>
                </a:solidFill>
                <a:effectLst/>
                <a:latin typeface="Verdana" panose="020B0604030504040204" pitchFamily="34" charset="0"/>
                <a:ea typeface="Times New Roman" panose="02020603050405020304" pitchFamily="18" charset="0"/>
                <a:cs typeface="Times New Roman" panose="02020603050405020304" pitchFamily="18" charset="0"/>
              </a:rPr>
              <a:t>(AUTONOMUS)</a:t>
            </a:r>
          </a:p>
          <a:p>
            <a:pPr algn="ctr">
              <a:lnSpc>
                <a:spcPct val="115000"/>
              </a:lnSpc>
            </a:pPr>
            <a:r>
              <a:rPr lang="en-US" sz="1400" b="1" cap="all" dirty="0">
                <a:solidFill>
                  <a:srgbClr val="0070C0"/>
                </a:solidFill>
                <a:effectLst/>
                <a:latin typeface="Verdana" panose="020B0604030504040204" pitchFamily="34" charset="0"/>
                <a:ea typeface="Times New Roman" panose="02020603050405020304" pitchFamily="18" charset="0"/>
                <a:cs typeface="Times New Roman" panose="02020603050405020304" pitchFamily="18" charset="0"/>
              </a:rPr>
              <a:t>Anantapur</a:t>
            </a:r>
            <a:r>
              <a:rPr lang="en-US" sz="1200" b="1" cap="all" dirty="0">
                <a:solidFill>
                  <a:srgbClr val="0070C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1400" dirty="0">
              <a:solidFill>
                <a:srgbClr val="FF0066"/>
              </a:solidFill>
              <a:latin typeface="Times New Roman" panose="02020603050405020304" pitchFamily="18" charset="0"/>
              <a:cs typeface="Times New Roman" panose="02020603050405020304" pitchFamily="18" charset="0"/>
            </a:endParaRPr>
          </a:p>
        </p:txBody>
      </p:sp>
      <p:pic>
        <p:nvPicPr>
          <p:cNvPr id="35" name="image1.png"/>
          <p:cNvPicPr/>
          <p:nvPr/>
        </p:nvPicPr>
        <p:blipFill>
          <a:blip r:embed="rId2" cstate="print"/>
          <a:stretch>
            <a:fillRect/>
          </a:stretch>
        </p:blipFill>
        <p:spPr>
          <a:xfrm>
            <a:off x="8100392" y="1"/>
            <a:ext cx="1043608" cy="9087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2049" y="113714"/>
            <a:ext cx="8031266" cy="461665"/>
          </a:xfrm>
          <a:prstGeom prst="rect">
            <a:avLst/>
          </a:prstGeom>
          <a:noFill/>
        </p:spPr>
        <p:txBody>
          <a:bodyPr wrap="square" rtlCol="0">
            <a:spAutoFit/>
          </a:bodyPr>
          <a:lstStyle/>
          <a:p>
            <a:pPr algn="ctr"/>
            <a:r>
              <a:rPr lang="en-US" sz="2400" u="sng" dirty="0">
                <a:solidFill>
                  <a:srgbClr val="AE126F"/>
                </a:solidFill>
                <a:latin typeface="Gill Sans MT" panose="020B0502020104020203" pitchFamily="34" charset="0"/>
                <a:cs typeface="Times New Roman" panose="02020603050405020304" pitchFamily="18" charset="0"/>
              </a:rPr>
              <a:t>CONTENTS</a:t>
            </a:r>
            <a:r>
              <a:rPr lang="en-US" sz="2400" dirty="0">
                <a:solidFill>
                  <a:srgbClr val="AE126F"/>
                </a:solidFill>
                <a:latin typeface="Times New Roman" panose="02020603050405020304" pitchFamily="18" charset="0"/>
                <a:cs typeface="Times New Roman" panose="02020603050405020304" pitchFamily="18" charset="0"/>
              </a:rPr>
              <a:t>    </a:t>
            </a:r>
            <a:endParaRPr lang="en-US" sz="2000" dirty="0">
              <a:solidFill>
                <a:srgbClr val="AE126F"/>
              </a:solidFill>
              <a:latin typeface="Times New Roman" panose="02020603050405020304" pitchFamily="18" charset="0"/>
              <a:cs typeface="Times New Roman" panose="02020603050405020304" pitchFamily="18" charset="0"/>
            </a:endParaRPr>
          </a:p>
        </p:txBody>
      </p:sp>
      <p:pic>
        <p:nvPicPr>
          <p:cNvPr id="5" name="image1.png"/>
          <p:cNvPicPr/>
          <p:nvPr/>
        </p:nvPicPr>
        <p:blipFill>
          <a:blip r:embed="rId2" cstate="print"/>
          <a:stretch>
            <a:fillRect/>
          </a:stretch>
        </p:blipFill>
        <p:spPr>
          <a:xfrm>
            <a:off x="7884368" y="214290"/>
            <a:ext cx="1057894" cy="838446"/>
          </a:xfrm>
          <a:prstGeom prst="rect">
            <a:avLst/>
          </a:prstGeom>
        </p:spPr>
      </p:pic>
      <p:sp>
        <p:nvSpPr>
          <p:cNvPr id="8" name="TextBox 7"/>
          <p:cNvSpPr txBox="1"/>
          <p:nvPr/>
        </p:nvSpPr>
        <p:spPr>
          <a:xfrm>
            <a:off x="711595" y="476672"/>
            <a:ext cx="8102134" cy="6102889"/>
          </a:xfrm>
          <a:prstGeom prst="rect">
            <a:avLst/>
          </a:prstGeom>
          <a:noFill/>
        </p:spPr>
        <p:txBody>
          <a:bodyPr wrap="square" rtlCol="0">
            <a:spAutoFit/>
          </a:bodyPr>
          <a:lstStyle/>
          <a:p>
            <a:pPr marL="285750" indent="-285750">
              <a:lnSpc>
                <a:spcPct val="200000"/>
              </a:lnSpc>
              <a:buClr>
                <a:schemeClr val="tx1"/>
              </a:buClr>
              <a:buFont typeface="Wingdings" panose="05000000000000000000" pitchFamily="2" charset="2"/>
              <a:buChar char="Ø"/>
            </a:pPr>
            <a:r>
              <a:rPr lang="en-US" dirty="0">
                <a:latin typeface="Gill Sans MT" panose="020B0502020104020203" pitchFamily="34" charset="0"/>
                <a:cs typeface="Times New Roman" panose="02020603050405020304" pitchFamily="18" charset="0"/>
              </a:rPr>
              <a:t>Abstract</a:t>
            </a:r>
          </a:p>
          <a:p>
            <a:pPr>
              <a:lnSpc>
                <a:spcPct val="200000"/>
              </a:lnSpc>
              <a:buClr>
                <a:schemeClr val="tx1"/>
              </a:buClr>
              <a:buFont typeface="Wingdings" panose="05000000000000000000" pitchFamily="2" charset="2"/>
              <a:buChar char="Ø"/>
            </a:pPr>
            <a:r>
              <a:rPr lang="en-US" dirty="0">
                <a:latin typeface="Gill Sans MT" panose="020B0502020104020203" pitchFamily="34" charset="0"/>
                <a:cs typeface="Times New Roman" panose="02020603050405020304" pitchFamily="18" charset="0"/>
              </a:rPr>
              <a:t>  Objective</a:t>
            </a:r>
          </a:p>
          <a:p>
            <a:pPr>
              <a:lnSpc>
                <a:spcPct val="200000"/>
              </a:lnSpc>
              <a:buClr>
                <a:schemeClr val="tx1"/>
              </a:buClr>
              <a:buFont typeface="Wingdings" panose="05000000000000000000" pitchFamily="2" charset="2"/>
              <a:buChar char="Ø"/>
            </a:pPr>
            <a:r>
              <a:rPr lang="en-US" dirty="0">
                <a:latin typeface="Gill Sans MT" panose="020B0502020104020203" pitchFamily="34" charset="0"/>
                <a:cs typeface="Times New Roman" panose="02020603050405020304" pitchFamily="18" charset="0"/>
              </a:rPr>
              <a:t>  Introduction</a:t>
            </a:r>
          </a:p>
          <a:p>
            <a:pPr>
              <a:lnSpc>
                <a:spcPct val="200000"/>
              </a:lnSpc>
              <a:buClr>
                <a:schemeClr val="tx1"/>
              </a:buClr>
              <a:buFont typeface="Wingdings" panose="05000000000000000000" pitchFamily="2" charset="2"/>
              <a:buChar char="Ø"/>
            </a:pPr>
            <a:r>
              <a:rPr lang="en-US" dirty="0">
                <a:latin typeface="Gill Sans MT" panose="020B0502020104020203" pitchFamily="34" charset="0"/>
                <a:cs typeface="Times New Roman" panose="02020603050405020304" pitchFamily="18" charset="0"/>
              </a:rPr>
              <a:t>  Literature Survey</a:t>
            </a:r>
          </a:p>
          <a:p>
            <a:pPr>
              <a:lnSpc>
                <a:spcPct val="200000"/>
              </a:lnSpc>
              <a:buClr>
                <a:schemeClr val="tx1"/>
              </a:buClr>
              <a:buFont typeface="Wingdings" panose="05000000000000000000" pitchFamily="2" charset="2"/>
              <a:buChar char="Ø"/>
            </a:pPr>
            <a:r>
              <a:rPr lang="en-US" dirty="0">
                <a:latin typeface="Gill Sans MT" panose="020B0502020104020203" pitchFamily="34" charset="0"/>
                <a:cs typeface="Times New Roman" panose="02020603050405020304" pitchFamily="18" charset="0"/>
              </a:rPr>
              <a:t>  Existing System</a:t>
            </a:r>
          </a:p>
          <a:p>
            <a:pPr>
              <a:lnSpc>
                <a:spcPct val="200000"/>
              </a:lnSpc>
              <a:buClr>
                <a:schemeClr val="tx1"/>
              </a:buClr>
              <a:buFont typeface="Wingdings" panose="05000000000000000000" pitchFamily="2" charset="2"/>
              <a:buChar char="Ø"/>
            </a:pPr>
            <a:r>
              <a:rPr lang="en-IN" altLang="en-US" dirty="0">
                <a:latin typeface="Gill Sans MT" panose="020B0502020104020203" pitchFamily="34" charset="0"/>
                <a:cs typeface="Times New Roman" panose="02020603050405020304" pitchFamily="18" charset="0"/>
              </a:rPr>
              <a:t> Proposed System</a:t>
            </a:r>
            <a:endParaRPr lang="en-US" dirty="0">
              <a:latin typeface="Gill Sans MT" panose="020B0502020104020203" pitchFamily="34" charset="0"/>
              <a:cs typeface="Times New Roman" panose="02020603050405020304" pitchFamily="18" charset="0"/>
            </a:endParaRPr>
          </a:p>
          <a:p>
            <a:pPr>
              <a:lnSpc>
                <a:spcPct val="200000"/>
              </a:lnSpc>
              <a:buClr>
                <a:schemeClr val="tx1"/>
              </a:buClr>
              <a:buFont typeface="Wingdings" panose="05000000000000000000" pitchFamily="2" charset="2"/>
              <a:buChar char="Ø"/>
            </a:pPr>
            <a:r>
              <a:rPr lang="en-US" dirty="0">
                <a:latin typeface="Gill Sans MT" panose="020B0502020104020203" pitchFamily="34" charset="0"/>
                <a:cs typeface="Times New Roman" panose="02020603050405020304" pitchFamily="18" charset="0"/>
              </a:rPr>
              <a:t>  Advantages</a:t>
            </a:r>
          </a:p>
          <a:p>
            <a:pPr>
              <a:lnSpc>
                <a:spcPct val="200000"/>
              </a:lnSpc>
              <a:buClr>
                <a:schemeClr val="tx1"/>
              </a:buClr>
              <a:buFont typeface="Wingdings" panose="05000000000000000000" pitchFamily="2" charset="2"/>
              <a:buChar char="Ø"/>
            </a:pPr>
            <a:r>
              <a:rPr lang="en-US" dirty="0">
                <a:latin typeface="Gill Sans MT" panose="020B0502020104020203" pitchFamily="34" charset="0"/>
                <a:cs typeface="Times New Roman" panose="02020603050405020304" pitchFamily="18" charset="0"/>
              </a:rPr>
              <a:t>  Results</a:t>
            </a:r>
          </a:p>
          <a:p>
            <a:pPr>
              <a:lnSpc>
                <a:spcPct val="200000"/>
              </a:lnSpc>
              <a:buClr>
                <a:schemeClr val="tx1"/>
              </a:buClr>
              <a:buFont typeface="Wingdings" panose="05000000000000000000" pitchFamily="2" charset="2"/>
              <a:buChar char="Ø"/>
            </a:pPr>
            <a:r>
              <a:rPr lang="en-US" dirty="0">
                <a:latin typeface="Gill Sans MT" panose="020B0502020104020203" pitchFamily="34" charset="0"/>
                <a:cs typeface="Times New Roman" panose="02020603050405020304" pitchFamily="18" charset="0"/>
              </a:rPr>
              <a:t>  Future Scope</a:t>
            </a:r>
          </a:p>
          <a:p>
            <a:pPr>
              <a:lnSpc>
                <a:spcPct val="200000"/>
              </a:lnSpc>
              <a:buClr>
                <a:schemeClr val="tx1"/>
              </a:buClr>
              <a:buFont typeface="Wingdings" panose="05000000000000000000" pitchFamily="2" charset="2"/>
              <a:buChar char="Ø"/>
            </a:pPr>
            <a:r>
              <a:rPr lang="en-US" dirty="0">
                <a:latin typeface="Gill Sans MT" panose="020B0502020104020203" pitchFamily="34" charset="0"/>
                <a:cs typeface="Times New Roman" panose="02020603050405020304" pitchFamily="18" charset="0"/>
              </a:rPr>
              <a:t> Conclusion</a:t>
            </a:r>
          </a:p>
          <a:p>
            <a:pPr>
              <a:lnSpc>
                <a:spcPct val="200000"/>
              </a:lnSpc>
              <a:buClr>
                <a:schemeClr val="tx1"/>
              </a:buClr>
              <a:buFont typeface="Wingdings" panose="05000000000000000000" pitchFamily="2" charset="2"/>
              <a:buChar char="Ø"/>
            </a:pPr>
            <a:r>
              <a:rPr lang="en-US" dirty="0">
                <a:latin typeface="Gill Sans MT" panose="020B0502020104020203" pitchFamily="34" charset="0"/>
                <a:cs typeface="Times New Roman" panose="02020603050405020304" pitchFamily="18" charset="0"/>
              </a:rPr>
              <a:t>  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03180-4B03-0DA1-D9EC-02B032679522}"/>
              </a:ext>
            </a:extLst>
          </p:cNvPr>
          <p:cNvSpPr>
            <a:spLocks noGrp="1"/>
          </p:cNvSpPr>
          <p:nvPr>
            <p:ph type="title"/>
          </p:nvPr>
        </p:nvSpPr>
        <p:spPr/>
        <p:txBody>
          <a:bodyPr>
            <a:normAutofit/>
          </a:bodyPr>
          <a:lstStyle/>
          <a:p>
            <a:pPr algn="ctr"/>
            <a:r>
              <a:rPr lang="en-US" sz="2800" u="sng" dirty="0">
                <a:latin typeface="Gill Sans MT" panose="020B0502020104020203" pitchFamily="34" charset="0"/>
                <a:cs typeface="Times New Roman" panose="02020603050405020304" pitchFamily="18" charset="0"/>
              </a:rPr>
              <a:t>ABSTRACT</a:t>
            </a:r>
            <a:endParaRPr lang="en-IN" sz="2800" u="sng" dirty="0">
              <a:latin typeface="Gill Sans MT" panose="020B0502020104020203"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700509F-2E96-0163-F3FA-63D53C8F5471}"/>
              </a:ext>
            </a:extLst>
          </p:cNvPr>
          <p:cNvSpPr>
            <a:spLocks noGrp="1"/>
          </p:cNvSpPr>
          <p:nvPr>
            <p:ph idx="1"/>
          </p:nvPr>
        </p:nvSpPr>
        <p:spPr/>
        <p:txBody>
          <a:bodyPr>
            <a:normAutofit lnSpcReduction="10000"/>
          </a:bodyPr>
          <a:lstStyle/>
          <a:p>
            <a:pPr algn="just">
              <a:lnSpc>
                <a:spcPct val="150000"/>
              </a:lnSpc>
            </a:pPr>
            <a:r>
              <a:rPr lang="en-US" sz="2000" dirty="0">
                <a:latin typeface="Gill Sans MT" panose="020B0502020104020203" pitchFamily="34" charset="0"/>
              </a:rPr>
              <a:t>The main aim of this project is to develop an accident monitoring system that can be installed in any vehicle.</a:t>
            </a:r>
          </a:p>
          <a:p>
            <a:pPr algn="just">
              <a:lnSpc>
                <a:spcPct val="150000"/>
              </a:lnSpc>
            </a:pPr>
            <a:r>
              <a:rPr lang="en-US" sz="2000" dirty="0">
                <a:solidFill>
                  <a:srgbClr val="171C2C"/>
                </a:solidFill>
                <a:effectLst/>
                <a:latin typeface="Gill Sans MT" panose="020B0502020104020203" pitchFamily="34" charset="0"/>
                <a:ea typeface="Times New Roman" panose="02020603050405020304" pitchFamily="18" charset="0"/>
              </a:rPr>
              <a:t>In the event of an accident, the system automatically triggers an alert via GSM, notifying emergency services and designated contacts</a:t>
            </a:r>
            <a:r>
              <a:rPr lang="en-US" sz="2000" dirty="0">
                <a:solidFill>
                  <a:srgbClr val="171C2C"/>
                </a:solidFill>
                <a:effectLst/>
                <a:latin typeface="Times New Roman" panose="02020603050405020304" pitchFamily="18" charset="0"/>
                <a:ea typeface="Times New Roman" panose="02020603050405020304" pitchFamily="18" charset="0"/>
              </a:rPr>
              <a:t>.</a:t>
            </a:r>
          </a:p>
          <a:p>
            <a:pPr algn="just">
              <a:lnSpc>
                <a:spcPct val="150000"/>
              </a:lnSpc>
            </a:pPr>
            <a:r>
              <a:rPr lang="en-US" sz="2000" dirty="0">
                <a:latin typeface="Gill Sans MT" panose="020B0502020104020203" pitchFamily="34" charset="0"/>
              </a:rPr>
              <a:t>And also, this system checks whether the driver is drunken, if driver consumed alcohol then the system stops the engine so that accidents due to alcohol consumption is reduced</a:t>
            </a:r>
            <a:r>
              <a:rPr lang="en-US" sz="1600" dirty="0"/>
              <a:t>.</a:t>
            </a:r>
            <a:endParaRPr lang="en-US" sz="2000" dirty="0">
              <a:latin typeface="Gill Sans MT" panose="020B0502020104020203" pitchFamily="34" charset="0"/>
            </a:endParaRPr>
          </a:p>
          <a:p>
            <a:pPr algn="just">
              <a:lnSpc>
                <a:spcPct val="150000"/>
              </a:lnSpc>
            </a:pPr>
            <a:r>
              <a:rPr lang="en-US" sz="2000" dirty="0">
                <a:solidFill>
                  <a:srgbClr val="171C2C"/>
                </a:solidFill>
                <a:effectLst/>
                <a:latin typeface="Gill Sans MT" panose="020B0502020104020203" pitchFamily="34" charset="0"/>
                <a:ea typeface="Times New Roman" panose="02020603050405020304" pitchFamily="18" charset="0"/>
              </a:rPr>
              <a:t>Simultaneously, it uploads detailed incident data to the cloud platform </a:t>
            </a:r>
            <a:r>
              <a:rPr lang="en-US" sz="2000" dirty="0" err="1">
                <a:solidFill>
                  <a:srgbClr val="171C2C"/>
                </a:solidFill>
                <a:effectLst/>
                <a:latin typeface="Gill Sans MT" panose="020B0502020104020203" pitchFamily="34" charset="0"/>
                <a:ea typeface="Times New Roman" panose="02020603050405020304" pitchFamily="18" charset="0"/>
              </a:rPr>
              <a:t>ThingSpeak</a:t>
            </a:r>
            <a:r>
              <a:rPr lang="en-US" sz="2000" dirty="0">
                <a:solidFill>
                  <a:srgbClr val="171C2C"/>
                </a:solidFill>
                <a:effectLst/>
                <a:latin typeface="Gill Sans MT" panose="020B0502020104020203" pitchFamily="34" charset="0"/>
                <a:ea typeface="Times New Roman" panose="02020603050405020304" pitchFamily="18" charset="0"/>
              </a:rPr>
              <a:t>, where it can be accessed for comprehensive analysis.</a:t>
            </a:r>
            <a:endParaRPr lang="en-US" sz="2000" dirty="0">
              <a:latin typeface="Gill Sans MT" panose="020B0502020104020203" pitchFamily="34" charset="0"/>
            </a:endParaRPr>
          </a:p>
        </p:txBody>
      </p:sp>
      <p:pic>
        <p:nvPicPr>
          <p:cNvPr id="5" name="image1.png">
            <a:extLst>
              <a:ext uri="{FF2B5EF4-FFF2-40B4-BE49-F238E27FC236}">
                <a16:creationId xmlns:a16="http://schemas.microsoft.com/office/drawing/2014/main" id="{01141312-CE64-8082-9543-56A9F82D0E31}"/>
              </a:ext>
            </a:extLst>
          </p:cNvPr>
          <p:cNvPicPr/>
          <p:nvPr/>
        </p:nvPicPr>
        <p:blipFill>
          <a:blip r:embed="rId2" cstate="print"/>
          <a:stretch>
            <a:fillRect/>
          </a:stretch>
        </p:blipFill>
        <p:spPr>
          <a:xfrm>
            <a:off x="7884368" y="214290"/>
            <a:ext cx="1057894" cy="838446"/>
          </a:xfrm>
          <a:prstGeom prst="rect">
            <a:avLst/>
          </a:prstGeom>
        </p:spPr>
      </p:pic>
    </p:spTree>
    <p:extLst>
      <p:ext uri="{BB962C8B-B14F-4D97-AF65-F5344CB8AC3E}">
        <p14:creationId xmlns:p14="http://schemas.microsoft.com/office/powerpoint/2010/main" val="27771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D8921-4685-ACBB-8F73-E50424918BF4}"/>
              </a:ext>
            </a:extLst>
          </p:cNvPr>
          <p:cNvSpPr>
            <a:spLocks noGrp="1"/>
          </p:cNvSpPr>
          <p:nvPr>
            <p:ph type="title"/>
          </p:nvPr>
        </p:nvSpPr>
        <p:spPr/>
        <p:txBody>
          <a:bodyPr>
            <a:normAutofit/>
          </a:bodyPr>
          <a:lstStyle/>
          <a:p>
            <a:pPr algn="ctr"/>
            <a:r>
              <a:rPr lang="en-US" sz="2800" u="sng" dirty="0">
                <a:latin typeface="Gill Sans MT" panose="020B0502020104020203" pitchFamily="34" charset="0"/>
                <a:cs typeface="Times New Roman" panose="02020603050405020304" pitchFamily="18" charset="0"/>
              </a:rPr>
              <a:t>OBJECTIVE</a:t>
            </a:r>
            <a:endParaRPr lang="en-IN" sz="2800" u="sng" dirty="0">
              <a:latin typeface="Gill Sans MT" panose="020B0502020104020203"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D947DA7-1CBE-E189-46E9-9936273622F6}"/>
              </a:ext>
            </a:extLst>
          </p:cNvPr>
          <p:cNvSpPr>
            <a:spLocks noGrp="1"/>
          </p:cNvSpPr>
          <p:nvPr>
            <p:ph idx="1"/>
          </p:nvPr>
        </p:nvSpPr>
        <p:spPr/>
        <p:txBody>
          <a:bodyPr>
            <a:normAutofit lnSpcReduction="10000"/>
          </a:bodyPr>
          <a:lstStyle/>
          <a:p>
            <a:pPr marL="0" indent="0" algn="just">
              <a:lnSpc>
                <a:spcPct val="150000"/>
              </a:lnSpc>
              <a:buNone/>
            </a:pPr>
            <a:r>
              <a:rPr lang="en-US" sz="2000" dirty="0">
                <a:latin typeface="Gill Sans MT" panose="020B0502020104020203" pitchFamily="34" charset="0"/>
                <a:cs typeface="Times New Roman" panose="02020603050405020304" pitchFamily="18" charset="0"/>
              </a:rPr>
              <a:t>The main objective of this project is to design and implement an accident monitoring, detection and alert system that enhances vehicle safety </a:t>
            </a:r>
            <a:r>
              <a:rPr lang="en-IN" sz="2000" dirty="0">
                <a:latin typeface="Gill Sans MT" panose="020B0502020104020203" pitchFamily="34" charset="0"/>
                <a:cs typeface="Times New Roman" panose="02020603050405020304" pitchFamily="18" charset="0"/>
              </a:rPr>
              <a:t>by leveraging modern technology.</a:t>
            </a:r>
          </a:p>
          <a:p>
            <a:pPr marL="0" indent="0" algn="just">
              <a:buNone/>
            </a:pPr>
            <a:endParaRPr lang="en-US" sz="2000" dirty="0">
              <a:latin typeface="Gill Sans MT" panose="020B0502020104020203" pitchFamily="34" charset="0"/>
              <a:cs typeface="Times New Roman" panose="02020603050405020304" pitchFamily="18" charset="0"/>
            </a:endParaRPr>
          </a:p>
          <a:p>
            <a:pPr marL="0" indent="0" algn="just">
              <a:buNone/>
            </a:pPr>
            <a:r>
              <a:rPr lang="en-US" sz="2000" dirty="0">
                <a:latin typeface="Gill Sans MT" panose="020B0502020104020203" pitchFamily="34" charset="0"/>
                <a:cs typeface="Times New Roman" panose="02020603050405020304" pitchFamily="18" charset="0"/>
              </a:rPr>
              <a:t>The</a:t>
            </a:r>
            <a:r>
              <a:rPr lang="en-IN" sz="2000" dirty="0">
                <a:latin typeface="Gill Sans MT" panose="020B0502020104020203" pitchFamily="34" charset="0"/>
                <a:cs typeface="Times New Roman" panose="02020603050405020304" pitchFamily="18" charset="0"/>
              </a:rPr>
              <a:t> objectives are: </a:t>
            </a:r>
          </a:p>
          <a:p>
            <a:pPr algn="just"/>
            <a:r>
              <a:rPr lang="en-US" sz="2000" dirty="0">
                <a:latin typeface="Gill Sans MT" panose="020B0502020104020203" pitchFamily="34" charset="0"/>
                <a:cs typeface="Times New Roman" panose="02020603050405020304" pitchFamily="18" charset="0"/>
              </a:rPr>
              <a:t> Real-Time Monitoring</a:t>
            </a:r>
          </a:p>
          <a:p>
            <a:pPr algn="just"/>
            <a:r>
              <a:rPr lang="en-US" sz="2000" dirty="0">
                <a:latin typeface="Gill Sans MT" panose="020B0502020104020203" pitchFamily="34" charset="0"/>
                <a:cs typeface="Times New Roman" panose="02020603050405020304" pitchFamily="18" charset="0"/>
              </a:rPr>
              <a:t> Immediate Alerts</a:t>
            </a:r>
          </a:p>
          <a:p>
            <a:pPr algn="just"/>
            <a:r>
              <a:rPr lang="en-US" sz="2000" dirty="0">
                <a:latin typeface="Gill Sans MT" panose="020B0502020104020203" pitchFamily="34" charset="0"/>
                <a:cs typeface="Times New Roman" panose="02020603050405020304" pitchFamily="18" charset="0"/>
              </a:rPr>
              <a:t> Data Recording</a:t>
            </a:r>
          </a:p>
          <a:p>
            <a:pPr algn="just"/>
            <a:r>
              <a:rPr lang="en-US" sz="2000" dirty="0">
                <a:latin typeface="Gill Sans MT" panose="020B0502020104020203" pitchFamily="34" charset="0"/>
                <a:cs typeface="Times New Roman" panose="02020603050405020304" pitchFamily="18" charset="0"/>
              </a:rPr>
              <a:t> Prevention and analysis of an accident</a:t>
            </a:r>
          </a:p>
          <a:p>
            <a:pPr algn="just"/>
            <a:r>
              <a:rPr lang="en-US" sz="2000" dirty="0">
                <a:latin typeface="Gill Sans MT" panose="020B0502020104020203" pitchFamily="34" charset="0"/>
                <a:cs typeface="Times New Roman" panose="02020603050405020304" pitchFamily="18" charset="0"/>
              </a:rPr>
              <a:t> The system detects alcohol and automatically stops the engine to prevent drunk driving</a:t>
            </a:r>
          </a:p>
          <a:p>
            <a:pPr algn="just"/>
            <a:endParaRPr lang="en-US" sz="2000" dirty="0">
              <a:latin typeface="Gill Sans MT" panose="020B0502020104020203" pitchFamily="34"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pic>
        <p:nvPicPr>
          <p:cNvPr id="4" name="image1.png">
            <a:extLst>
              <a:ext uri="{FF2B5EF4-FFF2-40B4-BE49-F238E27FC236}">
                <a16:creationId xmlns:a16="http://schemas.microsoft.com/office/drawing/2014/main" id="{9FF7A3B7-3AF3-94B8-29CF-E2E63F5D10D2}"/>
              </a:ext>
            </a:extLst>
          </p:cNvPr>
          <p:cNvPicPr/>
          <p:nvPr/>
        </p:nvPicPr>
        <p:blipFill>
          <a:blip r:embed="rId2" cstate="print"/>
          <a:stretch>
            <a:fillRect/>
          </a:stretch>
        </p:blipFill>
        <p:spPr>
          <a:xfrm>
            <a:off x="7884368" y="214290"/>
            <a:ext cx="1057894" cy="838446"/>
          </a:xfrm>
          <a:prstGeom prst="rect">
            <a:avLst/>
          </a:prstGeom>
        </p:spPr>
      </p:pic>
    </p:spTree>
    <p:extLst>
      <p:ext uri="{BB962C8B-B14F-4D97-AF65-F5344CB8AC3E}">
        <p14:creationId xmlns:p14="http://schemas.microsoft.com/office/powerpoint/2010/main" val="3167570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D355F-478C-90CA-45E9-73BF0625C327}"/>
              </a:ext>
            </a:extLst>
          </p:cNvPr>
          <p:cNvSpPr>
            <a:spLocks noGrp="1"/>
          </p:cNvSpPr>
          <p:nvPr>
            <p:ph type="title"/>
          </p:nvPr>
        </p:nvSpPr>
        <p:spPr/>
        <p:txBody>
          <a:bodyPr>
            <a:normAutofit/>
          </a:bodyPr>
          <a:lstStyle/>
          <a:p>
            <a:pPr algn="ctr"/>
            <a:r>
              <a:rPr lang="en-US" sz="2800" u="sng" dirty="0">
                <a:latin typeface="Gill Sans MT" panose="020B0502020104020203" pitchFamily="34" charset="0"/>
                <a:cs typeface="Times New Roman" panose="02020603050405020304" pitchFamily="18" charset="0"/>
              </a:rPr>
              <a:t>INTRODUCTION</a:t>
            </a:r>
            <a:endParaRPr lang="en-IN" sz="2800" u="sng" dirty="0">
              <a:latin typeface="Gill Sans MT" panose="020B0502020104020203"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CE999B4-173A-7C09-F897-86FE29A5FED1}"/>
              </a:ext>
            </a:extLst>
          </p:cNvPr>
          <p:cNvSpPr>
            <a:spLocks noGrp="1"/>
          </p:cNvSpPr>
          <p:nvPr>
            <p:ph idx="1"/>
          </p:nvPr>
        </p:nvSpPr>
        <p:spPr/>
        <p:txBody>
          <a:bodyPr>
            <a:noAutofit/>
          </a:bodyPr>
          <a:lstStyle/>
          <a:p>
            <a:pPr algn="just">
              <a:lnSpc>
                <a:spcPct val="160000"/>
              </a:lnSpc>
            </a:pPr>
            <a:r>
              <a:rPr lang="en-US" sz="1600" dirty="0">
                <a:latin typeface="Gill Sans MT" panose="020B0502020104020203" pitchFamily="34" charset="0"/>
              </a:rPr>
              <a:t>Road accidents result in approximately 1.3 million deaths and 20–50 million injuries worldwide each year.</a:t>
            </a:r>
          </a:p>
          <a:p>
            <a:pPr>
              <a:lnSpc>
                <a:spcPct val="160000"/>
              </a:lnSpc>
            </a:pPr>
            <a:r>
              <a:rPr lang="en-US" sz="1600" dirty="0">
                <a:latin typeface="Gill Sans MT" panose="020B0502020104020203" pitchFamily="34" charset="0"/>
              </a:rPr>
              <a:t>These accidents lead to significant economic losses, amounting to about 3% of a nation's GDP, alongside high medical expenses, lost productivity, and emotional distress.</a:t>
            </a:r>
          </a:p>
          <a:p>
            <a:pPr>
              <a:lnSpc>
                <a:spcPct val="160000"/>
              </a:lnSpc>
            </a:pPr>
            <a:r>
              <a:rPr lang="en-US" sz="1600" dirty="0">
                <a:latin typeface="Gill Sans MT" panose="020B0502020104020203" pitchFamily="34" charset="0"/>
              </a:rPr>
              <a:t>The proposed Accident Analysis and Alert System aims to improve vehicle safety using advanced sensors and communication technologies.</a:t>
            </a:r>
          </a:p>
          <a:p>
            <a:pPr>
              <a:lnSpc>
                <a:spcPct val="160000"/>
              </a:lnSpc>
            </a:pPr>
            <a:r>
              <a:rPr lang="en-US" sz="1600" dirty="0">
                <a:latin typeface="Gill Sans MT" panose="020B0502020104020203" pitchFamily="34" charset="0"/>
              </a:rPr>
              <a:t>The system detects hazards such as fire, impact vibrations, alcohol consumption by the driver, and vehicle tilts or rollovers in real-time.</a:t>
            </a:r>
          </a:p>
          <a:p>
            <a:pPr>
              <a:lnSpc>
                <a:spcPct val="160000"/>
              </a:lnSpc>
            </a:pPr>
            <a:r>
              <a:rPr lang="en-US" sz="1600" dirty="0">
                <a:latin typeface="Gill Sans MT" panose="020B0502020104020203" pitchFamily="34" charset="0"/>
              </a:rPr>
              <a:t>On detecting an anomaly, it sends immediate SMS alerts with GPS coordinates to registered contacts, ensuring quick responses and enhanced safety.</a:t>
            </a:r>
            <a:endParaRPr lang="en-IN" sz="1600" dirty="0">
              <a:latin typeface="Gill Sans MT" panose="020B0502020104020203" pitchFamily="34" charset="0"/>
            </a:endParaRPr>
          </a:p>
        </p:txBody>
      </p:sp>
      <p:pic>
        <p:nvPicPr>
          <p:cNvPr id="4" name="image1.png">
            <a:extLst>
              <a:ext uri="{FF2B5EF4-FFF2-40B4-BE49-F238E27FC236}">
                <a16:creationId xmlns:a16="http://schemas.microsoft.com/office/drawing/2014/main" id="{D7D3E2A6-2429-360D-E43B-808A4181D066}"/>
              </a:ext>
            </a:extLst>
          </p:cNvPr>
          <p:cNvPicPr/>
          <p:nvPr/>
        </p:nvPicPr>
        <p:blipFill>
          <a:blip r:embed="rId2" cstate="print"/>
          <a:stretch>
            <a:fillRect/>
          </a:stretch>
        </p:blipFill>
        <p:spPr>
          <a:xfrm>
            <a:off x="7884368" y="214290"/>
            <a:ext cx="1057894" cy="838446"/>
          </a:xfrm>
          <a:prstGeom prst="rect">
            <a:avLst/>
          </a:prstGeom>
        </p:spPr>
      </p:pic>
    </p:spTree>
    <p:extLst>
      <p:ext uri="{BB962C8B-B14F-4D97-AF65-F5344CB8AC3E}">
        <p14:creationId xmlns:p14="http://schemas.microsoft.com/office/powerpoint/2010/main" val="1891050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93E306D-0A08-16BF-E4F0-F2FF6BC8AB2A}"/>
              </a:ext>
            </a:extLst>
          </p:cNvPr>
          <p:cNvGraphicFramePr>
            <a:graphicFrameLocks noGrp="1"/>
          </p:cNvGraphicFramePr>
          <p:nvPr>
            <p:extLst>
              <p:ext uri="{D42A27DB-BD31-4B8C-83A1-F6EECF244321}">
                <p14:modId xmlns:p14="http://schemas.microsoft.com/office/powerpoint/2010/main" val="2394921239"/>
              </p:ext>
            </p:extLst>
          </p:nvPr>
        </p:nvGraphicFramePr>
        <p:xfrm>
          <a:off x="683568" y="1081640"/>
          <a:ext cx="8258694" cy="5227680"/>
        </p:xfrm>
        <a:graphic>
          <a:graphicData uri="http://schemas.openxmlformats.org/drawingml/2006/table">
            <a:tbl>
              <a:tblPr firstRow="1" bandRow="1">
                <a:tableStyleId>{5940675A-B579-460E-94D1-54222C63F5DA}</a:tableStyleId>
              </a:tblPr>
              <a:tblGrid>
                <a:gridCol w="1684546">
                  <a:extLst>
                    <a:ext uri="{9D8B030D-6E8A-4147-A177-3AD203B41FA5}">
                      <a16:colId xmlns:a16="http://schemas.microsoft.com/office/drawing/2014/main" val="3819427561"/>
                    </a:ext>
                  </a:extLst>
                </a:gridCol>
                <a:gridCol w="2746164">
                  <a:extLst>
                    <a:ext uri="{9D8B030D-6E8A-4147-A177-3AD203B41FA5}">
                      <a16:colId xmlns:a16="http://schemas.microsoft.com/office/drawing/2014/main" val="731600493"/>
                    </a:ext>
                  </a:extLst>
                </a:gridCol>
                <a:gridCol w="3827984">
                  <a:extLst>
                    <a:ext uri="{9D8B030D-6E8A-4147-A177-3AD203B41FA5}">
                      <a16:colId xmlns:a16="http://schemas.microsoft.com/office/drawing/2014/main" val="3932825089"/>
                    </a:ext>
                  </a:extLst>
                </a:gridCol>
              </a:tblGrid>
              <a:tr h="59095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000" u="sng" dirty="0">
                          <a:latin typeface="Gill Sans MT" panose="020B0502020104020203" pitchFamily="34" charset="0"/>
                          <a:cs typeface="Times New Roman" panose="02020603050405020304" pitchFamily="18" charset="0"/>
                        </a:rPr>
                        <a:t>Authors</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000" u="sng" dirty="0">
                          <a:latin typeface="Gill Sans MT" panose="020B0502020104020203" pitchFamily="34" charset="0"/>
                        </a:rPr>
                        <a:t>Title</a:t>
                      </a:r>
                    </a:p>
                  </a:txBody>
                  <a:tcPr/>
                </a:tc>
                <a:tc>
                  <a:txBody>
                    <a:bodyPr/>
                    <a:lstStyle/>
                    <a:p>
                      <a:pPr algn="ctr"/>
                      <a:r>
                        <a:rPr lang="en-IN" sz="2000" u="sng" dirty="0">
                          <a:latin typeface="Gill Sans MT" panose="020B0502020104020203" pitchFamily="34" charset="0"/>
                        </a:rPr>
                        <a:t>Summary</a:t>
                      </a:r>
                      <a:endParaRPr lang="en-IN" sz="2000" dirty="0">
                        <a:latin typeface="Gill Sans MT" panose="020B0502020104020203" pitchFamily="34" charset="0"/>
                      </a:endParaRPr>
                    </a:p>
                  </a:txBody>
                  <a:tcPr/>
                </a:tc>
                <a:extLst>
                  <a:ext uri="{0D108BD9-81ED-4DB2-BD59-A6C34878D82A}">
                    <a16:rowId xmlns:a16="http://schemas.microsoft.com/office/drawing/2014/main" val="3254489994"/>
                  </a:ext>
                </a:extLst>
              </a:tr>
              <a:tr h="463672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800" dirty="0">
                          <a:latin typeface="Gill Sans MT" panose="020B0502020104020203" pitchFamily="34" charset="0"/>
                        </a:rPr>
                        <a:t>Ibrahim et al.</a:t>
                      </a:r>
                    </a:p>
                    <a:p>
                      <a:r>
                        <a:rPr lang="en-IN" sz="1800" b="1" dirty="0">
                          <a:latin typeface="Times New Roman" panose="02020603050405020304" pitchFamily="18" charset="0"/>
                          <a:cs typeface="Times New Roman" panose="02020603050405020304" pitchFamily="18" charset="0"/>
                        </a:rPr>
                        <a:t>[1]</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800" dirty="0">
                          <a:latin typeface="Gill Sans MT" panose="020B0502020104020203" pitchFamily="34" charset="0"/>
                        </a:rPr>
                        <a:t>Black-box Accident Detection and Location System Using Raspberry Pi, GPS, and GSM Technologies</a:t>
                      </a:r>
                      <a:endParaRPr lang="en-IN" sz="1800" dirty="0">
                        <a:latin typeface="Gill Sans MT" panose="020B0502020104020203" pitchFamily="34" charset="0"/>
                      </a:endParaRPr>
                    </a:p>
                    <a:p>
                      <a:endParaRPr lang="en-IN" sz="1800" dirty="0">
                        <a:latin typeface="Gill Sans MT" panose="020B0502020104020203" pitchFamily="34" charset="0"/>
                      </a:endParaRPr>
                    </a:p>
                  </a:txBody>
                  <a:tcPr/>
                </a:tc>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US" sz="1800" dirty="0">
                          <a:latin typeface="Gill Sans MT" panose="020B0502020104020203" pitchFamily="34" charset="0"/>
                        </a:rPr>
                        <a:t>This system detects accidents using multiple sensors, determines accident location via GPS, and transmits essential accident data (time, speed, coordinates) via GSM to emergency services. It is a cost-effective alternative to traditional systems and functions independently of vehicle age and smartphone availability. The system can detect collisions.</a:t>
                      </a:r>
                    </a:p>
                    <a:p>
                      <a:pPr marL="0" marR="0" lvl="0" indent="0" algn="just" defTabSz="685800" rtl="0" eaLnBrk="1" fontAlgn="auto" latinLnBrk="0" hangingPunct="1">
                        <a:lnSpc>
                          <a:spcPct val="100000"/>
                        </a:lnSpc>
                        <a:spcBef>
                          <a:spcPts val="0"/>
                        </a:spcBef>
                        <a:spcAft>
                          <a:spcPts val="0"/>
                        </a:spcAft>
                        <a:buClrTx/>
                        <a:buSzTx/>
                        <a:buFontTx/>
                        <a:buNone/>
                        <a:tabLst/>
                        <a:defRPr/>
                      </a:pPr>
                      <a:r>
                        <a:rPr lang="en-US" sz="1800" dirty="0">
                          <a:latin typeface="Gill Sans MT" panose="020B0502020104020203" pitchFamily="34" charset="0"/>
                        </a:rPr>
                        <a:t>Drawback: It does not detect the alcohol and stop the engine.</a:t>
                      </a:r>
                      <a:endParaRPr lang="en-IN" sz="1800" dirty="0">
                        <a:latin typeface="Gill Sans MT" panose="020B0502020104020203" pitchFamily="34" charset="0"/>
                      </a:endParaRPr>
                    </a:p>
                    <a:p>
                      <a:endParaRPr lang="en-IN" sz="1800" dirty="0">
                        <a:latin typeface="Gill Sans MT" panose="020B0502020104020203" pitchFamily="34" charset="0"/>
                      </a:endParaRPr>
                    </a:p>
                  </a:txBody>
                  <a:tcPr/>
                </a:tc>
                <a:extLst>
                  <a:ext uri="{0D108BD9-81ED-4DB2-BD59-A6C34878D82A}">
                    <a16:rowId xmlns:a16="http://schemas.microsoft.com/office/drawing/2014/main" val="95312846"/>
                  </a:ext>
                </a:extLst>
              </a:tr>
            </a:tbl>
          </a:graphicData>
        </a:graphic>
      </p:graphicFrame>
      <p:sp>
        <p:nvSpPr>
          <p:cNvPr id="4" name="TextBox 3">
            <a:extLst>
              <a:ext uri="{FF2B5EF4-FFF2-40B4-BE49-F238E27FC236}">
                <a16:creationId xmlns:a16="http://schemas.microsoft.com/office/drawing/2014/main" id="{39C4ADA6-2881-E161-DFFF-FE943C64AD87}"/>
              </a:ext>
            </a:extLst>
          </p:cNvPr>
          <p:cNvSpPr txBox="1"/>
          <p:nvPr/>
        </p:nvSpPr>
        <p:spPr>
          <a:xfrm>
            <a:off x="3131840" y="188640"/>
            <a:ext cx="4752528" cy="461665"/>
          </a:xfrm>
          <a:prstGeom prst="rect">
            <a:avLst/>
          </a:prstGeom>
          <a:noFill/>
        </p:spPr>
        <p:txBody>
          <a:bodyPr wrap="square" rtlCol="0">
            <a:spAutoFit/>
          </a:bodyPr>
          <a:lstStyle/>
          <a:p>
            <a:r>
              <a:rPr lang="en-IN" sz="2400" u="sng" dirty="0">
                <a:latin typeface="Gill Sans MT" panose="020B0502020104020203" pitchFamily="34" charset="0"/>
              </a:rPr>
              <a:t>LITERATURE REVIEW</a:t>
            </a:r>
            <a:r>
              <a:rPr lang="en-IN" sz="2400" b="1" u="sng" dirty="0">
                <a:latin typeface="Gill Sans MT" panose="020B0502020104020203" pitchFamily="34" charset="0"/>
              </a:rPr>
              <a:t> </a:t>
            </a:r>
            <a:endParaRPr lang="en-IN" sz="2400" b="1" dirty="0"/>
          </a:p>
        </p:txBody>
      </p:sp>
      <p:pic>
        <p:nvPicPr>
          <p:cNvPr id="5" name="image1.png">
            <a:extLst>
              <a:ext uri="{FF2B5EF4-FFF2-40B4-BE49-F238E27FC236}">
                <a16:creationId xmlns:a16="http://schemas.microsoft.com/office/drawing/2014/main" id="{1308C65D-70B5-0DCB-3765-270D5C12E52F}"/>
              </a:ext>
            </a:extLst>
          </p:cNvPr>
          <p:cNvPicPr/>
          <p:nvPr/>
        </p:nvPicPr>
        <p:blipFill>
          <a:blip r:embed="rId2" cstate="print"/>
          <a:stretch>
            <a:fillRect/>
          </a:stretch>
        </p:blipFill>
        <p:spPr>
          <a:xfrm>
            <a:off x="7884368" y="214290"/>
            <a:ext cx="1057894" cy="838446"/>
          </a:xfrm>
          <a:prstGeom prst="rect">
            <a:avLst/>
          </a:prstGeom>
        </p:spPr>
      </p:pic>
    </p:spTree>
    <p:extLst>
      <p:ext uri="{BB962C8B-B14F-4D97-AF65-F5344CB8AC3E}">
        <p14:creationId xmlns:p14="http://schemas.microsoft.com/office/powerpoint/2010/main" val="830569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9DE2B55-D077-C598-F268-A19A530EF55D}"/>
              </a:ext>
            </a:extLst>
          </p:cNvPr>
          <p:cNvGraphicFramePr>
            <a:graphicFrameLocks noGrp="1"/>
          </p:cNvGraphicFramePr>
          <p:nvPr>
            <p:extLst>
              <p:ext uri="{D42A27DB-BD31-4B8C-83A1-F6EECF244321}">
                <p14:modId xmlns:p14="http://schemas.microsoft.com/office/powerpoint/2010/main" val="1090782503"/>
              </p:ext>
            </p:extLst>
          </p:nvPr>
        </p:nvGraphicFramePr>
        <p:xfrm>
          <a:off x="611560" y="1423130"/>
          <a:ext cx="7848873" cy="5457755"/>
        </p:xfrm>
        <a:graphic>
          <a:graphicData uri="http://schemas.openxmlformats.org/drawingml/2006/table">
            <a:tbl>
              <a:tblPr firstRow="1" bandRow="1">
                <a:tableStyleId>{5940675A-B579-460E-94D1-54222C63F5DA}</a:tableStyleId>
              </a:tblPr>
              <a:tblGrid>
                <a:gridCol w="2616291">
                  <a:extLst>
                    <a:ext uri="{9D8B030D-6E8A-4147-A177-3AD203B41FA5}">
                      <a16:colId xmlns:a16="http://schemas.microsoft.com/office/drawing/2014/main" val="37022147"/>
                    </a:ext>
                  </a:extLst>
                </a:gridCol>
                <a:gridCol w="2616291">
                  <a:extLst>
                    <a:ext uri="{9D8B030D-6E8A-4147-A177-3AD203B41FA5}">
                      <a16:colId xmlns:a16="http://schemas.microsoft.com/office/drawing/2014/main" val="3921340186"/>
                    </a:ext>
                  </a:extLst>
                </a:gridCol>
                <a:gridCol w="2616291">
                  <a:extLst>
                    <a:ext uri="{9D8B030D-6E8A-4147-A177-3AD203B41FA5}">
                      <a16:colId xmlns:a16="http://schemas.microsoft.com/office/drawing/2014/main" val="3936031164"/>
                    </a:ext>
                  </a:extLst>
                </a:gridCol>
              </a:tblGrid>
              <a:tr h="262311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800" dirty="0"/>
                        <a:t>Manish et al.</a:t>
                      </a:r>
                    </a:p>
                    <a:p>
                      <a:pPr marL="0" marR="0" lvl="0" indent="0" algn="l" defTabSz="685800" rtl="0" eaLnBrk="1" fontAlgn="auto" latinLnBrk="0" hangingPunct="1">
                        <a:lnSpc>
                          <a:spcPct val="100000"/>
                        </a:lnSpc>
                        <a:spcBef>
                          <a:spcPts val="0"/>
                        </a:spcBef>
                        <a:spcAft>
                          <a:spcPts val="0"/>
                        </a:spcAft>
                        <a:buClrTx/>
                        <a:buSzTx/>
                        <a:buFontTx/>
                        <a:buNone/>
                        <a:tabLst/>
                        <a:defRPr/>
                      </a:pPr>
                      <a:r>
                        <a:rPr lang="en-IN" sz="1800" dirty="0">
                          <a:latin typeface="Gill Sans MT" panose="020B0502020104020203" pitchFamily="34" charset="0"/>
                        </a:rPr>
                        <a:t>[2]</a:t>
                      </a:r>
                    </a:p>
                    <a:p>
                      <a:endParaRPr lang="en-IN" sz="1800" dirty="0">
                        <a:latin typeface="Times New Roman" panose="02020603050405020304" pitchFamily="18" charset="0"/>
                        <a:cs typeface="Times New Roman" panose="02020603050405020304" pitchFamily="18" charset="0"/>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1800" dirty="0"/>
                        <a:t>Car Black Box</a:t>
                      </a:r>
                      <a:endParaRPr lang="en-IN" sz="1800" dirty="0">
                        <a:latin typeface="Gill Sans MT" panose="020B0502020104020203" pitchFamily="34" charset="0"/>
                      </a:endParaRPr>
                    </a:p>
                    <a:p>
                      <a:endParaRPr lang="en-IN" sz="1800" dirty="0">
                        <a:latin typeface="Gill Sans MT" panose="020B0502020104020203" pitchFamily="34" charset="0"/>
                      </a:endParaRPr>
                    </a:p>
                  </a:txBody>
                  <a:tcPr/>
                </a:tc>
                <a:tc>
                  <a:txBody>
                    <a:bodyPr/>
                    <a:lstStyle/>
                    <a:p>
                      <a:r>
                        <a:rPr lang="en-US" sz="1800" dirty="0"/>
                        <a:t>An Android-based system that captures data like video footage, speed, and location. It uploads data to the cloud, alerts emergency contacts, and offers navigation and anti-theft features.</a:t>
                      </a:r>
                    </a:p>
                    <a:p>
                      <a:r>
                        <a:rPr lang="en-US" sz="1800" dirty="0">
                          <a:latin typeface="Gill Sans MT" panose="020B0502020104020203" pitchFamily="34" charset="0"/>
                        </a:rPr>
                        <a:t>Drawback: This only stores the data.</a:t>
                      </a:r>
                      <a:endParaRPr lang="en-IN" sz="1800" dirty="0">
                        <a:latin typeface="Gill Sans MT" panose="020B0502020104020203" pitchFamily="34" charset="0"/>
                      </a:endParaRPr>
                    </a:p>
                  </a:txBody>
                  <a:tcPr/>
                </a:tc>
                <a:extLst>
                  <a:ext uri="{0D108BD9-81ED-4DB2-BD59-A6C34878D82A}">
                    <a16:rowId xmlns:a16="http://schemas.microsoft.com/office/drawing/2014/main" val="1338153126"/>
                  </a:ext>
                </a:extLst>
              </a:tr>
              <a:tr h="2623115">
                <a:tc>
                  <a:txBody>
                    <a:bodyPr/>
                    <a:lstStyle/>
                    <a:p>
                      <a:r>
                        <a:rPr lang="en-IN" sz="1800" dirty="0" err="1"/>
                        <a:t>Mahziar</a:t>
                      </a:r>
                      <a:r>
                        <a:rPr lang="en-IN" sz="1800" dirty="0"/>
                        <a:t> et al.</a:t>
                      </a:r>
                    </a:p>
                    <a:p>
                      <a:r>
                        <a:rPr lang="en-IN" sz="1800" dirty="0">
                          <a:latin typeface="Gill Sans MT" panose="020B0502020104020203" pitchFamily="34" charset="0"/>
                        </a:rPr>
                        <a:t>[3]</a:t>
                      </a:r>
                    </a:p>
                  </a:txBody>
                  <a:tcPr/>
                </a:tc>
                <a:tc>
                  <a:txBody>
                    <a:bodyPr/>
                    <a:lstStyle/>
                    <a:p>
                      <a:r>
                        <a:rPr lang="en-US" sz="1800" dirty="0"/>
                        <a:t>IoT-Based Vehicular Accident Detection Systems</a:t>
                      </a:r>
                      <a:endParaRPr lang="en-IN" sz="1800" dirty="0">
                        <a:latin typeface="Gill Sans MT" panose="020B0502020104020203" pitchFamily="34" charset="0"/>
                      </a:endParaRPr>
                    </a:p>
                  </a:txBody>
                  <a:tcPr/>
                </a:tc>
                <a:tc>
                  <a:txBody>
                    <a:bodyPr/>
                    <a:lstStyle/>
                    <a:p>
                      <a:r>
                        <a:rPr lang="en-US" sz="1800" dirty="0"/>
                        <a:t>The work discusses using IoT technologies (e.g., sensors, cloud computing) for real-time accident detection and emergency response, aiming to improve response times and reduce fatalities.</a:t>
                      </a:r>
                      <a:endParaRPr lang="en-IN" sz="1800" dirty="0">
                        <a:latin typeface="Gill Sans MT" panose="020B0502020104020203" pitchFamily="34" charset="0"/>
                      </a:endParaRPr>
                    </a:p>
                  </a:txBody>
                  <a:tcPr/>
                </a:tc>
                <a:extLst>
                  <a:ext uri="{0D108BD9-81ED-4DB2-BD59-A6C34878D82A}">
                    <a16:rowId xmlns:a16="http://schemas.microsoft.com/office/drawing/2014/main" val="837030528"/>
                  </a:ext>
                </a:extLst>
              </a:tr>
            </a:tbl>
          </a:graphicData>
        </a:graphic>
      </p:graphicFrame>
      <p:graphicFrame>
        <p:nvGraphicFramePr>
          <p:cNvPr id="3" name="Table 2">
            <a:extLst>
              <a:ext uri="{FF2B5EF4-FFF2-40B4-BE49-F238E27FC236}">
                <a16:creationId xmlns:a16="http://schemas.microsoft.com/office/drawing/2014/main" id="{A3F3902A-8ECD-1460-A4B2-C62875FD3B67}"/>
              </a:ext>
            </a:extLst>
          </p:cNvPr>
          <p:cNvGraphicFramePr>
            <a:graphicFrameLocks noGrp="1"/>
          </p:cNvGraphicFramePr>
          <p:nvPr>
            <p:extLst>
              <p:ext uri="{D42A27DB-BD31-4B8C-83A1-F6EECF244321}">
                <p14:modId xmlns:p14="http://schemas.microsoft.com/office/powerpoint/2010/main" val="1346440007"/>
              </p:ext>
            </p:extLst>
          </p:nvPr>
        </p:nvGraphicFramePr>
        <p:xfrm>
          <a:off x="611561" y="836712"/>
          <a:ext cx="7848873" cy="586418"/>
        </p:xfrm>
        <a:graphic>
          <a:graphicData uri="http://schemas.openxmlformats.org/drawingml/2006/table">
            <a:tbl>
              <a:tblPr firstRow="1" bandRow="1">
                <a:tableStyleId>{5940675A-B579-460E-94D1-54222C63F5DA}</a:tableStyleId>
              </a:tblPr>
              <a:tblGrid>
                <a:gridCol w="2616291">
                  <a:extLst>
                    <a:ext uri="{9D8B030D-6E8A-4147-A177-3AD203B41FA5}">
                      <a16:colId xmlns:a16="http://schemas.microsoft.com/office/drawing/2014/main" val="2620998240"/>
                    </a:ext>
                  </a:extLst>
                </a:gridCol>
                <a:gridCol w="2616291">
                  <a:extLst>
                    <a:ext uri="{9D8B030D-6E8A-4147-A177-3AD203B41FA5}">
                      <a16:colId xmlns:a16="http://schemas.microsoft.com/office/drawing/2014/main" val="2659415344"/>
                    </a:ext>
                  </a:extLst>
                </a:gridCol>
                <a:gridCol w="2616291">
                  <a:extLst>
                    <a:ext uri="{9D8B030D-6E8A-4147-A177-3AD203B41FA5}">
                      <a16:colId xmlns:a16="http://schemas.microsoft.com/office/drawing/2014/main" val="1008595117"/>
                    </a:ext>
                  </a:extLst>
                </a:gridCol>
              </a:tblGrid>
              <a:tr h="586418">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000" u="sng" dirty="0">
                          <a:latin typeface="Gill Sans MT" panose="020B0502020104020203" pitchFamily="34" charset="0"/>
                          <a:cs typeface="Times New Roman" panose="02020603050405020304" pitchFamily="18" charset="0"/>
                        </a:rPr>
                        <a:t>Authors</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000" u="sng" dirty="0">
                          <a:latin typeface="Gill Sans MT" panose="020B0502020104020203" pitchFamily="34" charset="0"/>
                        </a:rPr>
                        <a:t>Title</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000" u="sng" dirty="0">
                          <a:latin typeface="Gill Sans MT" panose="020B0502020104020203" pitchFamily="34" charset="0"/>
                        </a:rPr>
                        <a:t>Summary</a:t>
                      </a:r>
                      <a:endParaRPr lang="en-IN" sz="2000" dirty="0">
                        <a:latin typeface="Gill Sans MT" panose="020B0502020104020203" pitchFamily="34" charset="0"/>
                      </a:endParaRPr>
                    </a:p>
                  </a:txBody>
                  <a:tcPr/>
                </a:tc>
                <a:extLst>
                  <a:ext uri="{0D108BD9-81ED-4DB2-BD59-A6C34878D82A}">
                    <a16:rowId xmlns:a16="http://schemas.microsoft.com/office/drawing/2014/main" val="3751061409"/>
                  </a:ext>
                </a:extLst>
              </a:tr>
            </a:tbl>
          </a:graphicData>
        </a:graphic>
      </p:graphicFrame>
      <p:pic>
        <p:nvPicPr>
          <p:cNvPr id="4" name="image1.png">
            <a:extLst>
              <a:ext uri="{FF2B5EF4-FFF2-40B4-BE49-F238E27FC236}">
                <a16:creationId xmlns:a16="http://schemas.microsoft.com/office/drawing/2014/main" id="{9B596044-1889-1C5D-F19F-915273E83F1B}"/>
              </a:ext>
            </a:extLst>
          </p:cNvPr>
          <p:cNvPicPr/>
          <p:nvPr/>
        </p:nvPicPr>
        <p:blipFill>
          <a:blip r:embed="rId2" cstate="print"/>
          <a:stretch>
            <a:fillRect/>
          </a:stretch>
        </p:blipFill>
        <p:spPr>
          <a:xfrm>
            <a:off x="7884368" y="214290"/>
            <a:ext cx="1057894" cy="838446"/>
          </a:xfrm>
          <a:prstGeom prst="rect">
            <a:avLst/>
          </a:prstGeom>
        </p:spPr>
      </p:pic>
    </p:spTree>
    <p:extLst>
      <p:ext uri="{BB962C8B-B14F-4D97-AF65-F5344CB8AC3E}">
        <p14:creationId xmlns:p14="http://schemas.microsoft.com/office/powerpoint/2010/main" val="353393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AD1AF-6F23-74E0-8A75-CF9D54B6B300}"/>
              </a:ext>
            </a:extLst>
          </p:cNvPr>
          <p:cNvSpPr>
            <a:spLocks noGrp="1"/>
          </p:cNvSpPr>
          <p:nvPr>
            <p:ph type="title"/>
          </p:nvPr>
        </p:nvSpPr>
        <p:spPr/>
        <p:txBody>
          <a:bodyPr>
            <a:normAutofit/>
          </a:bodyPr>
          <a:lstStyle/>
          <a:p>
            <a:pPr algn="ctr"/>
            <a:r>
              <a:rPr lang="en-US" sz="2800" u="sng" dirty="0">
                <a:latin typeface="Gill Sans MT" panose="020B0502020104020203" pitchFamily="34" charset="0"/>
                <a:cs typeface="Times New Roman" panose="02020603050405020304" pitchFamily="18" charset="0"/>
              </a:rPr>
              <a:t>EXISTING SYSTEM</a:t>
            </a:r>
            <a:endParaRPr lang="en-IN" sz="2800" dirty="0">
              <a:latin typeface="Gill Sans MT" panose="020B0502020104020203" pitchFamily="34" charset="0"/>
            </a:endParaRPr>
          </a:p>
        </p:txBody>
      </p:sp>
      <p:sp>
        <p:nvSpPr>
          <p:cNvPr id="3" name="Content Placeholder 2">
            <a:extLst>
              <a:ext uri="{FF2B5EF4-FFF2-40B4-BE49-F238E27FC236}">
                <a16:creationId xmlns:a16="http://schemas.microsoft.com/office/drawing/2014/main" id="{971BB378-F6A6-6CB4-CB5C-EE25285DD383}"/>
              </a:ext>
            </a:extLst>
          </p:cNvPr>
          <p:cNvSpPr>
            <a:spLocks noGrp="1"/>
          </p:cNvSpPr>
          <p:nvPr>
            <p:ph idx="1"/>
          </p:nvPr>
        </p:nvSpPr>
        <p:spPr/>
        <p:txBody>
          <a:bodyPr>
            <a:noAutofit/>
          </a:bodyPr>
          <a:lstStyle/>
          <a:p>
            <a:pPr algn="just">
              <a:lnSpc>
                <a:spcPct val="150000"/>
              </a:lnSpc>
            </a:pPr>
            <a:r>
              <a:rPr lang="en-US" sz="2000" dirty="0">
                <a:latin typeface="Gill Sans MT" panose="020B0502020104020203" pitchFamily="34" charset="0"/>
              </a:rPr>
              <a:t>In normal accident monitoring systems, reporting and detection of an accident depend mostly on human</a:t>
            </a:r>
            <a:r>
              <a:rPr lang="en-US" sz="1600" dirty="0"/>
              <a:t>.</a:t>
            </a:r>
          </a:p>
          <a:p>
            <a:pPr algn="just">
              <a:lnSpc>
                <a:spcPct val="150000"/>
              </a:lnSpc>
            </a:pPr>
            <a:r>
              <a:rPr lang="en-US" sz="2000" dirty="0">
                <a:latin typeface="Gill Sans MT" panose="020B0502020104020203" pitchFamily="34" charset="0"/>
              </a:rPr>
              <a:t>This type of manual reporting is done when the people see the accident otherwise reporting to emergency services will be very much delayed.</a:t>
            </a:r>
            <a:r>
              <a:rPr lang="en-US" sz="1600" dirty="0"/>
              <a:t> </a:t>
            </a:r>
            <a:r>
              <a:rPr lang="en-US" sz="2000" dirty="0">
                <a:latin typeface="Gill Sans MT" panose="020B0502020104020203" pitchFamily="34" charset="0"/>
              </a:rPr>
              <a:t>This process leads to significant delays in response time, which can be critical in life threatening situations.</a:t>
            </a:r>
          </a:p>
          <a:p>
            <a:pPr algn="just">
              <a:lnSpc>
                <a:spcPct val="150000"/>
              </a:lnSpc>
            </a:pPr>
            <a:r>
              <a:rPr lang="en-US" sz="2000" dirty="0">
                <a:latin typeface="Gill Sans MT" panose="020B0502020104020203" pitchFamily="34" charset="0"/>
              </a:rPr>
              <a:t>Limited use of advanced sensors and technologies to proactively detect potential risks such as fire, driver intoxication, or vehicle instability.</a:t>
            </a:r>
          </a:p>
        </p:txBody>
      </p:sp>
      <p:pic>
        <p:nvPicPr>
          <p:cNvPr id="4" name="image1.png">
            <a:extLst>
              <a:ext uri="{FF2B5EF4-FFF2-40B4-BE49-F238E27FC236}">
                <a16:creationId xmlns:a16="http://schemas.microsoft.com/office/drawing/2014/main" id="{F5AA2E13-6B9C-1BA1-E062-939AB81F934A}"/>
              </a:ext>
            </a:extLst>
          </p:cNvPr>
          <p:cNvPicPr/>
          <p:nvPr/>
        </p:nvPicPr>
        <p:blipFill>
          <a:blip r:embed="rId2" cstate="print"/>
          <a:stretch>
            <a:fillRect/>
          </a:stretch>
        </p:blipFill>
        <p:spPr>
          <a:xfrm>
            <a:off x="7884368" y="214290"/>
            <a:ext cx="1057894" cy="838446"/>
          </a:xfrm>
          <a:prstGeom prst="rect">
            <a:avLst/>
          </a:prstGeom>
        </p:spPr>
      </p:pic>
    </p:spTree>
    <p:extLst>
      <p:ext uri="{BB962C8B-B14F-4D97-AF65-F5344CB8AC3E}">
        <p14:creationId xmlns:p14="http://schemas.microsoft.com/office/powerpoint/2010/main" val="2300405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19021-A088-FDFC-F3D3-137ABD7F3FD5}"/>
              </a:ext>
            </a:extLst>
          </p:cNvPr>
          <p:cNvSpPr>
            <a:spLocks noGrp="1"/>
          </p:cNvSpPr>
          <p:nvPr>
            <p:ph type="title"/>
          </p:nvPr>
        </p:nvSpPr>
        <p:spPr>
          <a:xfrm>
            <a:off x="526615" y="159221"/>
            <a:ext cx="7886700" cy="1037531"/>
          </a:xfrm>
        </p:spPr>
        <p:txBody>
          <a:bodyPr>
            <a:normAutofit/>
          </a:bodyPr>
          <a:lstStyle/>
          <a:p>
            <a:pPr algn="ctr"/>
            <a:r>
              <a:rPr lang="en-US" sz="2800" u="sng" dirty="0">
                <a:latin typeface="Gill Sans MT" panose="020B0502020104020203" pitchFamily="34" charset="0"/>
                <a:cs typeface="Times New Roman" panose="02020603050405020304" pitchFamily="18" charset="0"/>
              </a:rPr>
              <a:t>PROPOSED SYSTEM</a:t>
            </a:r>
            <a:endParaRPr lang="en-IN" sz="2800" u="sng" dirty="0">
              <a:latin typeface="Gill Sans MT" panose="020B0502020104020203"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09DF28-03C8-49A5-9385-1D5F9F4CE78E}"/>
              </a:ext>
            </a:extLst>
          </p:cNvPr>
          <p:cNvSpPr>
            <a:spLocks noGrp="1"/>
          </p:cNvSpPr>
          <p:nvPr>
            <p:ph idx="1"/>
          </p:nvPr>
        </p:nvSpPr>
        <p:spPr>
          <a:xfrm>
            <a:off x="628650" y="1082910"/>
            <a:ext cx="7886700" cy="5154402"/>
          </a:xfrm>
        </p:spPr>
        <p:txBody>
          <a:bodyPr>
            <a:normAutofit fontScale="32500" lnSpcReduction="20000"/>
          </a:bodyPr>
          <a:lstStyle/>
          <a:p>
            <a:pPr marL="0" indent="0" algn="just">
              <a:lnSpc>
                <a:spcPct val="120000"/>
              </a:lnSpc>
              <a:buNone/>
            </a:pPr>
            <a:r>
              <a:rPr lang="en-US" sz="6200" dirty="0">
                <a:latin typeface="Gill Sans MT" panose="020B0502020104020203" pitchFamily="34" charset="0"/>
                <a:cs typeface="Times New Roman" panose="02020603050405020304" pitchFamily="18" charset="0"/>
              </a:rPr>
              <a:t>The proposed system aims to enhance road safety by detecting potential accident scenarios, alerting concerned individuals in real-time, and storing critical data for post-accident analysis. It uses advanced sensor integration, real-time communication, and data storage capabilities.</a:t>
            </a:r>
          </a:p>
          <a:p>
            <a:pPr marL="0" indent="0" algn="just">
              <a:lnSpc>
                <a:spcPct val="120000"/>
              </a:lnSpc>
              <a:buNone/>
            </a:pPr>
            <a:r>
              <a:rPr lang="en-US" sz="6200" dirty="0">
                <a:latin typeface="Gill Sans MT" panose="020B0502020104020203" pitchFamily="34" charset="0"/>
              </a:rPr>
              <a:t>The system prevents drunk driving and enhances vehicle safety using an MQ-3 alcohol sensor, Arduino UNO, and L293D motor driver to cut engine power if alcohol is detected. An LCD display shows warnings, while the GSM module sends alerts.</a:t>
            </a:r>
            <a:endParaRPr lang="en-IN" sz="6200" dirty="0">
              <a:latin typeface="Gill Sans MT" panose="020B0502020104020203" pitchFamily="34" charset="0"/>
              <a:cs typeface="Times New Roman" panose="02020603050405020304" pitchFamily="18" charset="0"/>
            </a:endParaRPr>
          </a:p>
          <a:p>
            <a:pPr algn="just">
              <a:lnSpc>
                <a:spcPct val="120000"/>
              </a:lnSpc>
              <a:buFont typeface="Arial" panose="020B0604020202020204" pitchFamily="34" charset="0"/>
              <a:buChar char="•"/>
            </a:pPr>
            <a:r>
              <a:rPr lang="en-IN" sz="6200" u="sng" dirty="0">
                <a:latin typeface="Gill Sans MT" panose="020B0502020104020203" pitchFamily="34" charset="0"/>
                <a:cs typeface="Times New Roman" panose="02020603050405020304" pitchFamily="18" charset="0"/>
              </a:rPr>
              <a:t>Real-Time Monitoring</a:t>
            </a:r>
            <a:r>
              <a:rPr lang="en-US" sz="6200" dirty="0">
                <a:latin typeface="Gill Sans MT" panose="020B0502020104020203" pitchFamily="34" charset="0"/>
                <a:cs typeface="Times New Roman" panose="02020603050405020304" pitchFamily="18" charset="0"/>
              </a:rPr>
              <a:t>: Continuously monitor vehicle parameters like speed, vibration, fire, alcohol levels, and tilt angle.</a:t>
            </a:r>
          </a:p>
          <a:p>
            <a:pPr algn="just">
              <a:lnSpc>
                <a:spcPct val="120000"/>
              </a:lnSpc>
              <a:buFont typeface="Arial" panose="020B0604020202020204" pitchFamily="34" charset="0"/>
              <a:buChar char="•"/>
            </a:pPr>
            <a:r>
              <a:rPr lang="en-IN" sz="6200" u="sng" dirty="0">
                <a:latin typeface="Gill Sans MT" panose="020B0502020104020203" pitchFamily="34" charset="0"/>
                <a:cs typeface="Times New Roman" panose="02020603050405020304" pitchFamily="18" charset="0"/>
              </a:rPr>
              <a:t>Instant Alerts</a:t>
            </a:r>
            <a:r>
              <a:rPr lang="en-US" sz="6200" dirty="0">
                <a:latin typeface="Gill Sans MT" panose="020B0502020104020203" pitchFamily="34" charset="0"/>
                <a:cs typeface="Times New Roman" panose="02020603050405020304" pitchFamily="18" charset="0"/>
              </a:rPr>
              <a:t>: Notify the vehicle owner or registered contacts via SMS with GPS coordinates in case of abnormal events.</a:t>
            </a:r>
          </a:p>
          <a:p>
            <a:pPr algn="just">
              <a:lnSpc>
                <a:spcPct val="120000"/>
              </a:lnSpc>
              <a:buFont typeface="Arial" panose="020B0604020202020204" pitchFamily="34" charset="0"/>
              <a:buChar char="•"/>
            </a:pPr>
            <a:r>
              <a:rPr lang="en-IN" sz="6200" u="sng" dirty="0">
                <a:latin typeface="Gill Sans MT" panose="020B0502020104020203" pitchFamily="34" charset="0"/>
                <a:cs typeface="Times New Roman" panose="02020603050405020304" pitchFamily="18" charset="0"/>
              </a:rPr>
              <a:t>Data Logging</a:t>
            </a:r>
            <a:r>
              <a:rPr lang="en-US" sz="6200" dirty="0">
                <a:latin typeface="Gill Sans MT" panose="020B0502020104020203" pitchFamily="34" charset="0"/>
                <a:cs typeface="Times New Roman" panose="02020603050405020304" pitchFamily="18" charset="0"/>
              </a:rPr>
              <a:t>: Store all sensor data during abnormal activities to facilitate post-accident investigation and analysis.</a:t>
            </a:r>
          </a:p>
          <a:p>
            <a:endParaRPr lang="en-IN" dirty="0"/>
          </a:p>
        </p:txBody>
      </p:sp>
      <p:pic>
        <p:nvPicPr>
          <p:cNvPr id="4" name="image1.png">
            <a:extLst>
              <a:ext uri="{FF2B5EF4-FFF2-40B4-BE49-F238E27FC236}">
                <a16:creationId xmlns:a16="http://schemas.microsoft.com/office/drawing/2014/main" id="{B4F72488-7CB1-8FDA-8FF7-909D57337BEA}"/>
              </a:ext>
            </a:extLst>
          </p:cNvPr>
          <p:cNvPicPr/>
          <p:nvPr/>
        </p:nvPicPr>
        <p:blipFill>
          <a:blip r:embed="rId2" cstate="print"/>
          <a:stretch>
            <a:fillRect/>
          </a:stretch>
        </p:blipFill>
        <p:spPr>
          <a:xfrm>
            <a:off x="7884368" y="214290"/>
            <a:ext cx="1057894" cy="838446"/>
          </a:xfrm>
          <a:prstGeom prst="rect">
            <a:avLst/>
          </a:prstGeom>
        </p:spPr>
      </p:pic>
    </p:spTree>
    <p:extLst>
      <p:ext uri="{BB962C8B-B14F-4D97-AF65-F5344CB8AC3E}">
        <p14:creationId xmlns:p14="http://schemas.microsoft.com/office/powerpoint/2010/main" val="1101790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3E3D6A08-5A40-EA6E-235F-0275919CF7E8}"/>
              </a:ext>
            </a:extLst>
          </p:cNvPr>
          <p:cNvSpPr txBox="1"/>
          <p:nvPr/>
        </p:nvSpPr>
        <p:spPr>
          <a:xfrm>
            <a:off x="-108520" y="376781"/>
            <a:ext cx="3302576" cy="461665"/>
          </a:xfrm>
          <a:prstGeom prst="rect">
            <a:avLst/>
          </a:prstGeom>
          <a:noFill/>
        </p:spPr>
        <p:txBody>
          <a:bodyPr wrap="square" rtlCol="0">
            <a:spAutoFit/>
          </a:bodyPr>
          <a:lstStyle/>
          <a:p>
            <a:pPr algn="ctr"/>
            <a:r>
              <a:rPr lang="en-US" sz="2400" b="1" u="sng" dirty="0">
                <a:latin typeface="Gill Sans MT" panose="020B0502020104020203" pitchFamily="34" charset="0"/>
                <a:cs typeface="Times New Roman" panose="02020603050405020304" pitchFamily="18" charset="0"/>
              </a:rPr>
              <a:t>Block Diagram</a:t>
            </a:r>
            <a:endParaRPr lang="en-IN" sz="2400" b="1" u="sng" dirty="0">
              <a:latin typeface="Gill Sans MT" panose="020B0502020104020203" pitchFamily="34" charset="0"/>
              <a:cs typeface="Times New Roman" panose="02020603050405020304" pitchFamily="18" charset="0"/>
            </a:endParaRPr>
          </a:p>
        </p:txBody>
      </p:sp>
      <p:pic>
        <p:nvPicPr>
          <p:cNvPr id="45" name="image1.png">
            <a:extLst>
              <a:ext uri="{FF2B5EF4-FFF2-40B4-BE49-F238E27FC236}">
                <a16:creationId xmlns:a16="http://schemas.microsoft.com/office/drawing/2014/main" id="{18D88E55-7ED1-DEF5-8DA2-1BA135958A57}"/>
              </a:ext>
            </a:extLst>
          </p:cNvPr>
          <p:cNvPicPr/>
          <p:nvPr/>
        </p:nvPicPr>
        <p:blipFill>
          <a:blip r:embed="rId2" cstate="print"/>
          <a:stretch>
            <a:fillRect/>
          </a:stretch>
        </p:blipFill>
        <p:spPr>
          <a:xfrm>
            <a:off x="7954781" y="0"/>
            <a:ext cx="1057894" cy="838446"/>
          </a:xfrm>
          <a:prstGeom prst="rect">
            <a:avLst/>
          </a:prstGeom>
        </p:spPr>
      </p:pic>
      <p:pic>
        <p:nvPicPr>
          <p:cNvPr id="4" name="Picture 3">
            <a:extLst>
              <a:ext uri="{FF2B5EF4-FFF2-40B4-BE49-F238E27FC236}">
                <a16:creationId xmlns:a16="http://schemas.microsoft.com/office/drawing/2014/main" id="{535D105C-F41E-ABBF-DC44-7BC6BD9DF2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0250" y="1124744"/>
            <a:ext cx="6243500" cy="4972774"/>
          </a:xfrm>
          <a:prstGeom prst="rect">
            <a:avLst/>
          </a:prstGeom>
        </p:spPr>
      </p:pic>
    </p:spTree>
    <p:extLst>
      <p:ext uri="{BB962C8B-B14F-4D97-AF65-F5344CB8AC3E}">
        <p14:creationId xmlns:p14="http://schemas.microsoft.com/office/powerpoint/2010/main" val="4174257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83195-7A80-3049-7F17-FE12F6669D0D}"/>
              </a:ext>
            </a:extLst>
          </p:cNvPr>
          <p:cNvSpPr>
            <a:spLocks noGrp="1"/>
          </p:cNvSpPr>
          <p:nvPr>
            <p:ph type="title"/>
          </p:nvPr>
        </p:nvSpPr>
        <p:spPr>
          <a:xfrm>
            <a:off x="628650" y="365127"/>
            <a:ext cx="7886700" cy="543594"/>
          </a:xfrm>
        </p:spPr>
        <p:txBody>
          <a:bodyPr>
            <a:normAutofit/>
          </a:bodyPr>
          <a:lstStyle/>
          <a:p>
            <a:r>
              <a:rPr lang="en-IN" sz="2400" u="sng" dirty="0">
                <a:latin typeface="Gill Sans MT" panose="020B0502020104020203" pitchFamily="34" charset="0"/>
              </a:rPr>
              <a:t>Hardware used :</a:t>
            </a:r>
          </a:p>
        </p:txBody>
      </p:sp>
      <p:sp>
        <p:nvSpPr>
          <p:cNvPr id="4" name="Rectangle 1">
            <a:extLst>
              <a:ext uri="{FF2B5EF4-FFF2-40B4-BE49-F238E27FC236}">
                <a16:creationId xmlns:a16="http://schemas.microsoft.com/office/drawing/2014/main" id="{2B255ABA-91A1-3032-93A9-C1D62525B973}"/>
              </a:ext>
            </a:extLst>
          </p:cNvPr>
          <p:cNvSpPr>
            <a:spLocks noGrp="1" noChangeArrowheads="1"/>
          </p:cNvSpPr>
          <p:nvPr>
            <p:ph idx="1"/>
          </p:nvPr>
        </p:nvSpPr>
        <p:spPr bwMode="auto">
          <a:xfrm>
            <a:off x="323527" y="1034129"/>
            <a:ext cx="8191823"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strike="noStrike" cap="none" normalizeH="0" baseline="0" dirty="0">
                <a:ln>
                  <a:noFill/>
                </a:ln>
                <a:solidFill>
                  <a:schemeClr val="tx1"/>
                </a:solidFill>
                <a:effectLst/>
                <a:latin typeface="Gill Sans MT" panose="020B0502020104020203" pitchFamily="34" charset="0"/>
              </a:rPr>
              <a:t>Arduino UNO </a:t>
            </a:r>
            <a:r>
              <a:rPr kumimoji="0" lang="en-US" altLang="en-US" sz="2000" b="0" i="0" strike="noStrike" cap="none" normalizeH="0" baseline="0" dirty="0">
                <a:ln>
                  <a:noFill/>
                </a:ln>
                <a:solidFill>
                  <a:schemeClr val="tx1"/>
                </a:solidFill>
                <a:effectLst/>
                <a:latin typeface="Gill Sans MT" panose="020B0502020104020203" pitchFamily="34" charset="0"/>
              </a:rPr>
              <a:t>– Central microcontroller for processing and control.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strike="noStrike" cap="none" normalizeH="0" baseline="0" dirty="0">
                <a:ln>
                  <a:noFill/>
                </a:ln>
                <a:solidFill>
                  <a:schemeClr val="tx1"/>
                </a:solidFill>
                <a:effectLst/>
                <a:latin typeface="Gill Sans MT" panose="020B0502020104020203" pitchFamily="34" charset="0"/>
              </a:rPr>
              <a:t>Battery </a:t>
            </a:r>
            <a:r>
              <a:rPr kumimoji="0" lang="en-US" altLang="en-US" sz="2000" b="0" i="0" strike="noStrike" cap="none" normalizeH="0" baseline="0" dirty="0">
                <a:ln>
                  <a:noFill/>
                </a:ln>
                <a:solidFill>
                  <a:schemeClr val="tx1"/>
                </a:solidFill>
                <a:effectLst/>
                <a:latin typeface="Gill Sans MT" panose="020B0502020104020203" pitchFamily="34" charset="0"/>
              </a:rPr>
              <a:t>– Power source for the system.</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strike="noStrike" cap="none" normalizeH="0" baseline="0" dirty="0">
                <a:ln>
                  <a:noFill/>
                </a:ln>
                <a:solidFill>
                  <a:schemeClr val="tx1"/>
                </a:solidFill>
                <a:effectLst/>
                <a:latin typeface="Gill Sans MT" panose="020B0502020104020203" pitchFamily="34" charset="0"/>
              </a:rPr>
              <a:t>LCD (Liquid Crystal Display) </a:t>
            </a:r>
            <a:r>
              <a:rPr kumimoji="0" lang="en-US" altLang="en-US" sz="2000" b="0" i="0" strike="noStrike" cap="none" normalizeH="0" baseline="0" dirty="0">
                <a:ln>
                  <a:noFill/>
                </a:ln>
                <a:solidFill>
                  <a:schemeClr val="tx1"/>
                </a:solidFill>
                <a:effectLst/>
                <a:latin typeface="Gill Sans MT" panose="020B0502020104020203" pitchFamily="34" charset="0"/>
              </a:rPr>
              <a:t>– For displaying real-time information and status.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strike="noStrike" cap="none" normalizeH="0" baseline="0" dirty="0">
                <a:ln>
                  <a:noFill/>
                </a:ln>
                <a:solidFill>
                  <a:schemeClr val="tx1"/>
                </a:solidFill>
                <a:effectLst/>
                <a:latin typeface="Gill Sans MT" panose="020B0502020104020203" pitchFamily="34" charset="0"/>
              </a:rPr>
              <a:t>Fire Sensor </a:t>
            </a:r>
            <a:r>
              <a:rPr kumimoji="0" lang="en-US" altLang="en-US" sz="2000" b="0" i="0" strike="noStrike" cap="none" normalizeH="0" baseline="0" dirty="0">
                <a:ln>
                  <a:noFill/>
                </a:ln>
                <a:solidFill>
                  <a:schemeClr val="tx1"/>
                </a:solidFill>
                <a:effectLst/>
                <a:latin typeface="Gill Sans MT" panose="020B0502020104020203" pitchFamily="34" charset="0"/>
              </a:rPr>
              <a:t>– Detects smoke or fire in the vehicle.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strike="noStrike" cap="none" normalizeH="0" baseline="0" dirty="0">
                <a:ln>
                  <a:noFill/>
                </a:ln>
                <a:solidFill>
                  <a:schemeClr val="tx1"/>
                </a:solidFill>
                <a:effectLst/>
                <a:latin typeface="Gill Sans MT" panose="020B0502020104020203" pitchFamily="34" charset="0"/>
              </a:rPr>
              <a:t>Gas Sensor </a:t>
            </a:r>
            <a:r>
              <a:rPr kumimoji="0" lang="en-US" altLang="en-US" sz="2000" b="0" i="0" strike="noStrike" cap="none" normalizeH="0" baseline="0" dirty="0">
                <a:ln>
                  <a:noFill/>
                </a:ln>
                <a:solidFill>
                  <a:schemeClr val="tx1"/>
                </a:solidFill>
                <a:effectLst/>
                <a:latin typeface="Gill Sans MT" panose="020B0502020104020203" pitchFamily="34" charset="0"/>
              </a:rPr>
              <a:t>– Detects harmful gases (e.g., alcohol, carbon monoxide).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strike="noStrike" cap="none" normalizeH="0" baseline="0" dirty="0">
                <a:ln>
                  <a:noFill/>
                </a:ln>
                <a:solidFill>
                  <a:schemeClr val="tx1"/>
                </a:solidFill>
                <a:effectLst/>
                <a:latin typeface="Gill Sans MT" panose="020B0502020104020203" pitchFamily="34" charset="0"/>
              </a:rPr>
              <a:t>DHT11</a:t>
            </a:r>
            <a:r>
              <a:rPr kumimoji="0" lang="en-US" altLang="en-US" sz="2000" b="0" i="0" strike="noStrike" cap="none" normalizeH="0" baseline="0" dirty="0">
                <a:ln>
                  <a:noFill/>
                </a:ln>
                <a:solidFill>
                  <a:schemeClr val="tx1"/>
                </a:solidFill>
                <a:effectLst/>
                <a:latin typeface="Gill Sans MT" panose="020B0502020104020203" pitchFamily="34" charset="0"/>
              </a:rPr>
              <a:t> – Temperature and humidity sensor.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strike="noStrike" cap="none" normalizeH="0" baseline="0" dirty="0">
                <a:ln>
                  <a:noFill/>
                </a:ln>
                <a:solidFill>
                  <a:schemeClr val="tx1"/>
                </a:solidFill>
                <a:effectLst/>
                <a:latin typeface="Gill Sans MT" panose="020B0502020104020203" pitchFamily="34" charset="0"/>
              </a:rPr>
              <a:t>MPU6050</a:t>
            </a:r>
            <a:r>
              <a:rPr kumimoji="0" lang="en-US" altLang="en-US" sz="2000" b="0" i="0" strike="noStrike" cap="none" normalizeH="0" baseline="0" dirty="0">
                <a:ln>
                  <a:noFill/>
                </a:ln>
                <a:solidFill>
                  <a:schemeClr val="tx1"/>
                </a:solidFill>
                <a:effectLst/>
                <a:latin typeface="Gill Sans MT" panose="020B0502020104020203" pitchFamily="34" charset="0"/>
              </a:rPr>
              <a:t> – Accelerometer and gyroscope for detecting sudden motion or accident.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strike="noStrike" cap="none" normalizeH="0" baseline="0" dirty="0">
                <a:ln>
                  <a:noFill/>
                </a:ln>
                <a:solidFill>
                  <a:schemeClr val="tx1"/>
                </a:solidFill>
                <a:effectLst/>
                <a:latin typeface="Gill Sans MT" panose="020B0502020104020203" pitchFamily="34" charset="0"/>
              </a:rPr>
              <a:t>Slide Switch </a:t>
            </a:r>
            <a:r>
              <a:rPr kumimoji="0" lang="en-US" altLang="en-US" sz="2000" b="0" i="0" strike="noStrike" cap="none" normalizeH="0" baseline="0" dirty="0">
                <a:ln>
                  <a:noFill/>
                </a:ln>
                <a:solidFill>
                  <a:schemeClr val="tx1"/>
                </a:solidFill>
                <a:effectLst/>
                <a:latin typeface="Gill Sans MT" panose="020B0502020104020203" pitchFamily="34" charset="0"/>
              </a:rPr>
              <a:t>– Used for manually turning the system on or off.</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strike="noStrike" cap="none" normalizeH="0" baseline="0" dirty="0">
                <a:ln>
                  <a:noFill/>
                </a:ln>
                <a:solidFill>
                  <a:schemeClr val="tx1"/>
                </a:solidFill>
                <a:effectLst/>
                <a:latin typeface="Gill Sans MT" panose="020B0502020104020203" pitchFamily="34" charset="0"/>
              </a:rPr>
              <a:t>GSM Module </a:t>
            </a:r>
            <a:r>
              <a:rPr kumimoji="0" lang="en-US" altLang="en-US" sz="2000" b="0" i="0" strike="noStrike" cap="none" normalizeH="0" baseline="0" dirty="0">
                <a:ln>
                  <a:noFill/>
                </a:ln>
                <a:solidFill>
                  <a:schemeClr val="tx1"/>
                </a:solidFill>
                <a:effectLst/>
                <a:latin typeface="Gill Sans MT" panose="020B0502020104020203" pitchFamily="34" charset="0"/>
              </a:rPr>
              <a:t>– Sends SMS alerts in case of emergencies.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strike="noStrike" cap="none" normalizeH="0" baseline="0" dirty="0">
                <a:ln>
                  <a:noFill/>
                </a:ln>
                <a:solidFill>
                  <a:schemeClr val="tx1"/>
                </a:solidFill>
                <a:effectLst/>
                <a:latin typeface="Gill Sans MT" panose="020B0502020104020203" pitchFamily="34" charset="0"/>
              </a:rPr>
              <a:t>DC Motors </a:t>
            </a:r>
            <a:r>
              <a:rPr kumimoji="0" lang="en-US" altLang="en-US" sz="2000" b="0" i="0" strike="noStrike" cap="none" normalizeH="0" baseline="0" dirty="0">
                <a:ln>
                  <a:noFill/>
                </a:ln>
                <a:solidFill>
                  <a:schemeClr val="tx1"/>
                </a:solidFill>
                <a:effectLst/>
                <a:latin typeface="Gill Sans MT" panose="020B0502020104020203" pitchFamily="34" charset="0"/>
              </a:rPr>
              <a:t>– Used for mechanical responses, such as unlocking doors.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strike="noStrike" cap="none" normalizeH="0" baseline="0" dirty="0">
                <a:ln>
                  <a:noFill/>
                </a:ln>
                <a:solidFill>
                  <a:schemeClr val="tx1"/>
                </a:solidFill>
                <a:effectLst/>
                <a:latin typeface="Gill Sans MT" panose="020B0502020104020203" pitchFamily="34" charset="0"/>
              </a:rPr>
              <a:t>L293D Motor Driver </a:t>
            </a:r>
            <a:r>
              <a:rPr kumimoji="0" lang="en-US" altLang="en-US" sz="2000" b="0" i="0" strike="noStrike" cap="none" normalizeH="0" baseline="0" dirty="0">
                <a:ln>
                  <a:noFill/>
                </a:ln>
                <a:solidFill>
                  <a:schemeClr val="tx1"/>
                </a:solidFill>
                <a:effectLst/>
                <a:latin typeface="Gill Sans MT" panose="020B0502020104020203" pitchFamily="34" charset="0"/>
              </a:rPr>
              <a:t>– Controls the DC motors.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strike="noStrike" cap="none" normalizeH="0" baseline="0" dirty="0">
                <a:ln>
                  <a:noFill/>
                </a:ln>
                <a:solidFill>
                  <a:schemeClr val="tx1"/>
                </a:solidFill>
                <a:effectLst/>
                <a:latin typeface="Gill Sans MT" panose="020B0502020104020203" pitchFamily="34" charset="0"/>
              </a:rPr>
              <a:t>ESP8266</a:t>
            </a:r>
            <a:r>
              <a:rPr kumimoji="0" lang="en-US" altLang="en-US" sz="2000" b="0" i="0" strike="noStrike" cap="none" normalizeH="0" baseline="0" dirty="0">
                <a:ln>
                  <a:noFill/>
                </a:ln>
                <a:solidFill>
                  <a:schemeClr val="tx1"/>
                </a:solidFill>
                <a:effectLst/>
                <a:latin typeface="Gill Sans MT" panose="020B0502020104020203" pitchFamily="34" charset="0"/>
              </a:rPr>
              <a:t> – Wi-Fi module for remote monitoring and data transmission to the cloud.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strike="noStrike" cap="none" normalizeH="0" baseline="0" dirty="0">
                <a:ln>
                  <a:noFill/>
                </a:ln>
                <a:solidFill>
                  <a:schemeClr val="tx1"/>
                </a:solidFill>
                <a:effectLst/>
                <a:latin typeface="Gill Sans MT" panose="020B0502020104020203" pitchFamily="34" charset="0"/>
              </a:rPr>
              <a:t>Rotary Encoder </a:t>
            </a:r>
            <a:r>
              <a:rPr kumimoji="0" lang="en-US" altLang="en-US" sz="2000" b="0" i="0" strike="noStrike" cap="none" normalizeH="0" baseline="0" dirty="0">
                <a:ln>
                  <a:noFill/>
                </a:ln>
                <a:solidFill>
                  <a:schemeClr val="tx1"/>
                </a:solidFill>
                <a:effectLst/>
                <a:latin typeface="Gill Sans MT" panose="020B0502020104020203" pitchFamily="34" charset="0"/>
              </a:rPr>
              <a:t>– Measures rotational position and movement </a:t>
            </a:r>
          </a:p>
        </p:txBody>
      </p:sp>
    </p:spTree>
    <p:extLst>
      <p:ext uri="{BB962C8B-B14F-4D97-AF65-F5344CB8AC3E}">
        <p14:creationId xmlns:p14="http://schemas.microsoft.com/office/powerpoint/2010/main" val="4268710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87D58-A964-1EB5-35B1-9C49F4D08696}"/>
              </a:ext>
            </a:extLst>
          </p:cNvPr>
          <p:cNvSpPr>
            <a:spLocks noGrp="1"/>
          </p:cNvSpPr>
          <p:nvPr>
            <p:ph type="title"/>
          </p:nvPr>
        </p:nvSpPr>
        <p:spPr/>
        <p:txBody>
          <a:bodyPr>
            <a:normAutofit/>
          </a:bodyPr>
          <a:lstStyle/>
          <a:p>
            <a:r>
              <a:rPr lang="en-US" sz="2000" b="1" cap="all" dirty="0">
                <a:effectLst/>
                <a:latin typeface="Gill Sans MT" panose="020B0502020104020203" pitchFamily="34" charset="0"/>
                <a:ea typeface="Times New Roman" panose="02020603050405020304" pitchFamily="18" charset="0"/>
                <a:cs typeface="Times New Roman" panose="02020603050405020304" pitchFamily="18" charset="0"/>
              </a:rPr>
              <a:t>Arduino Uno</a:t>
            </a:r>
            <a:br>
              <a:rPr lang="en-IN" sz="2000" dirty="0">
                <a:effectLst/>
                <a:latin typeface="Gill Sans MT" panose="020B0502020104020203" pitchFamily="34" charset="0"/>
                <a:ea typeface="Times New Roman" panose="02020603050405020304" pitchFamily="18" charset="0"/>
                <a:cs typeface="Times New Roman" panose="02020603050405020304" pitchFamily="18" charset="0"/>
              </a:rPr>
            </a:br>
            <a:endParaRPr lang="en-IN" sz="2000" dirty="0">
              <a:latin typeface="Gill Sans MT" panose="020B0502020104020203" pitchFamily="34" charset="0"/>
            </a:endParaRPr>
          </a:p>
        </p:txBody>
      </p:sp>
      <p:sp>
        <p:nvSpPr>
          <p:cNvPr id="3" name="Content Placeholder 2">
            <a:extLst>
              <a:ext uri="{FF2B5EF4-FFF2-40B4-BE49-F238E27FC236}">
                <a16:creationId xmlns:a16="http://schemas.microsoft.com/office/drawing/2014/main" id="{FDCBA109-5167-00FF-AF58-972F4F50224E}"/>
              </a:ext>
            </a:extLst>
          </p:cNvPr>
          <p:cNvSpPr>
            <a:spLocks noGrp="1"/>
          </p:cNvSpPr>
          <p:nvPr>
            <p:ph sz="half" idx="1"/>
          </p:nvPr>
        </p:nvSpPr>
        <p:spPr/>
        <p:txBody>
          <a:bodyPr/>
          <a:lstStyle/>
          <a:p>
            <a:pPr algn="just"/>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Arduino UNO is a frequently used open-source microcontroller board developed mainly on the Microchip ATmega328P processor developed by Arduino.cc. Equipped with several digital and analog input/output needles (E/A) that allow for seamless integration with expansion modules (signs) and external circuits. The card includes 14 digital E/A pencils and six analog input needles that allow for a versatile interface. Programming is facilitated by the Arduino Integrated Development Environment (IDE) using a Type B USB connection</a:t>
            </a:r>
            <a:endParaRPr lang="en-IN" sz="1800" dirty="0">
              <a:effectLst/>
              <a:latin typeface="Gill Sans MT" panose="020B0502020104020203" pitchFamily="34" charset="0"/>
              <a:ea typeface="Times New Roman" panose="02020603050405020304" pitchFamily="18" charset="0"/>
              <a:cs typeface="Times New Roman" panose="02020603050405020304" pitchFamily="18" charset="0"/>
            </a:endParaRPr>
          </a:p>
          <a:p>
            <a:endParaRPr lang="en-IN" dirty="0"/>
          </a:p>
        </p:txBody>
      </p:sp>
      <p:pic>
        <p:nvPicPr>
          <p:cNvPr id="5" name="Content Placeholder 4">
            <a:extLst>
              <a:ext uri="{FF2B5EF4-FFF2-40B4-BE49-F238E27FC236}">
                <a16:creationId xmlns:a16="http://schemas.microsoft.com/office/drawing/2014/main" id="{86D43B8C-8BAE-5496-845C-B7FF212C61D1}"/>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5179868" y="3101441"/>
            <a:ext cx="2784764" cy="1799705"/>
          </a:xfrm>
          <a:prstGeom prst="rect">
            <a:avLst/>
          </a:prstGeom>
        </p:spPr>
      </p:pic>
    </p:spTree>
    <p:extLst>
      <p:ext uri="{BB962C8B-B14F-4D97-AF65-F5344CB8AC3E}">
        <p14:creationId xmlns:p14="http://schemas.microsoft.com/office/powerpoint/2010/main" val="3338435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6A68F-F58F-D3FF-CAE6-3189E3086299}"/>
              </a:ext>
            </a:extLst>
          </p:cNvPr>
          <p:cNvSpPr>
            <a:spLocks noGrp="1"/>
          </p:cNvSpPr>
          <p:nvPr>
            <p:ph type="title"/>
          </p:nvPr>
        </p:nvSpPr>
        <p:spPr/>
        <p:txBody>
          <a:bodyPr/>
          <a:lstStyle/>
          <a:p>
            <a:r>
              <a:rPr lang="en-US" sz="1800" b="1" cap="all" dirty="0">
                <a:effectLst/>
                <a:latin typeface="Gill Sans MT" panose="020B0502020104020203" pitchFamily="34" charset="0"/>
                <a:ea typeface="Times New Roman" panose="02020603050405020304" pitchFamily="18" charset="0"/>
                <a:cs typeface="Times New Roman" panose="02020603050405020304" pitchFamily="18" charset="0"/>
              </a:rPr>
              <a:t>LCD (Liquid Cristal Display)</a:t>
            </a:r>
            <a:br>
              <a:rPr lang="en-IN" sz="1800" dirty="0">
                <a:effectLst/>
                <a:latin typeface="Gill Sans MT" panose="020B0502020104020203" pitchFamily="34" charset="0"/>
                <a:ea typeface="Times New Roman" panose="02020603050405020304" pitchFamily="18" charset="0"/>
                <a:cs typeface="Times New Roman" panose="02020603050405020304" pitchFamily="18" charset="0"/>
              </a:rPr>
            </a:br>
            <a:endParaRPr lang="en-IN" dirty="0">
              <a:latin typeface="Gill Sans MT" panose="020B0502020104020203" pitchFamily="34" charset="0"/>
            </a:endParaRPr>
          </a:p>
        </p:txBody>
      </p:sp>
      <p:sp>
        <p:nvSpPr>
          <p:cNvPr id="4" name="Content Placeholder 3">
            <a:extLst>
              <a:ext uri="{FF2B5EF4-FFF2-40B4-BE49-F238E27FC236}">
                <a16:creationId xmlns:a16="http://schemas.microsoft.com/office/drawing/2014/main" id="{AB8F2A75-3F09-9578-1308-A4DF177320BF}"/>
              </a:ext>
            </a:extLst>
          </p:cNvPr>
          <p:cNvSpPr>
            <a:spLocks noGrp="1"/>
          </p:cNvSpPr>
          <p:nvPr>
            <p:ph sz="half" idx="2"/>
          </p:nvPr>
        </p:nvSpPr>
        <p:spPr/>
        <p:txBody>
          <a:bodyPr/>
          <a:lstStyle/>
          <a:p>
            <a:pPr algn="just"/>
            <a:r>
              <a:rPr lang="en-IN" sz="1800" dirty="0">
                <a:effectLst/>
                <a:latin typeface="Gill Sans MT" panose="020B0502020104020203" pitchFamily="34" charset="0"/>
                <a:ea typeface="Times New Roman" panose="02020603050405020304" pitchFamily="18" charset="0"/>
                <a:cs typeface="Times New Roman" panose="02020603050405020304" pitchFamily="18" charset="0"/>
              </a:rPr>
              <a:t> A thin, flat display device called a liquid crystal display (LCD) is composed of an arbitrary number of </a:t>
            </a:r>
            <a:r>
              <a:rPr lang="en-IN" sz="1800" dirty="0" err="1">
                <a:effectLst/>
                <a:latin typeface="Gill Sans MT" panose="020B0502020104020203" pitchFamily="34" charset="0"/>
                <a:ea typeface="Times New Roman" panose="02020603050405020304" pitchFamily="18" charset="0"/>
                <a:cs typeface="Times New Roman" panose="02020603050405020304" pitchFamily="18" charset="0"/>
              </a:rPr>
              <a:t>color</a:t>
            </a:r>
            <a:r>
              <a:rPr lang="en-IN" sz="1800" dirty="0">
                <a:effectLst/>
                <a:latin typeface="Gill Sans MT" panose="020B0502020104020203" pitchFamily="34" charset="0"/>
                <a:ea typeface="Times New Roman" panose="02020603050405020304" pitchFamily="18" charset="0"/>
                <a:cs typeface="Times New Roman" panose="02020603050405020304" pitchFamily="18" charset="0"/>
              </a:rPr>
              <a:t> or monochrome pixels arranged in front of a reflector or light source. Each pixel is made up of two polarizing filters with axes of polarity perpendicular to one another and a column of liquid crystal molecules suspended between two transparent electrodes. Light flowing through one would be obstructed by the other if there were no liquid crystals between them. Light entering one filter is allowed to pass through the other by the liquid crystal's twisting of its polarization. </a:t>
            </a:r>
          </a:p>
          <a:p>
            <a:endParaRPr lang="en-IN" dirty="0">
              <a:latin typeface="Gill Sans MT" panose="020B0502020104020203" pitchFamily="34" charset="0"/>
            </a:endParaRPr>
          </a:p>
        </p:txBody>
      </p:sp>
      <p:pic>
        <p:nvPicPr>
          <p:cNvPr id="5" name="Content Placeholder 4">
            <a:extLst>
              <a:ext uri="{FF2B5EF4-FFF2-40B4-BE49-F238E27FC236}">
                <a16:creationId xmlns:a16="http://schemas.microsoft.com/office/drawing/2014/main" id="{E8E85B8B-E31A-D96E-86AF-BA1538A73BC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50570" y="2260124"/>
            <a:ext cx="3642360" cy="3482340"/>
          </a:xfrm>
          <a:prstGeom prst="rect">
            <a:avLst/>
          </a:prstGeom>
        </p:spPr>
      </p:pic>
    </p:spTree>
    <p:extLst>
      <p:ext uri="{BB962C8B-B14F-4D97-AF65-F5344CB8AC3E}">
        <p14:creationId xmlns:p14="http://schemas.microsoft.com/office/powerpoint/2010/main" val="262731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09E72-0E08-73BD-2C09-C83E7ED13E5A}"/>
              </a:ext>
            </a:extLst>
          </p:cNvPr>
          <p:cNvSpPr>
            <a:spLocks noGrp="1"/>
          </p:cNvSpPr>
          <p:nvPr>
            <p:ph type="title"/>
          </p:nvPr>
        </p:nvSpPr>
        <p:spPr/>
        <p:txBody>
          <a:bodyPr/>
          <a:lstStyle/>
          <a:p>
            <a:r>
              <a:rPr lang="en-US" sz="1800" b="1" kern="0" cap="all" dirty="0">
                <a:effectLst/>
                <a:latin typeface="Gill Sans MT" panose="020B0502020104020203" pitchFamily="34" charset="0"/>
                <a:ea typeface="Times New Roman" panose="02020603050405020304" pitchFamily="18" charset="0"/>
              </a:rPr>
              <a:t>FIRE sensor</a:t>
            </a:r>
            <a:endParaRPr lang="en-IN" dirty="0">
              <a:latin typeface="Gill Sans MT" panose="020B0502020104020203" pitchFamily="34" charset="0"/>
            </a:endParaRPr>
          </a:p>
        </p:txBody>
      </p:sp>
      <p:sp>
        <p:nvSpPr>
          <p:cNvPr id="3" name="Content Placeholder 2">
            <a:extLst>
              <a:ext uri="{FF2B5EF4-FFF2-40B4-BE49-F238E27FC236}">
                <a16:creationId xmlns:a16="http://schemas.microsoft.com/office/drawing/2014/main" id="{3A74DCF1-95D2-5FF6-6C24-1F812CA80EAF}"/>
              </a:ext>
            </a:extLst>
          </p:cNvPr>
          <p:cNvSpPr>
            <a:spLocks noGrp="1"/>
          </p:cNvSpPr>
          <p:nvPr>
            <p:ph sz="half" idx="1"/>
          </p:nvPr>
        </p:nvSpPr>
        <p:spPr/>
        <p:txBody>
          <a:bodyPr/>
          <a:lstStyle/>
          <a:p>
            <a:pPr algn="just"/>
            <a:r>
              <a:rPr lang="en-IN" sz="1800" dirty="0">
                <a:effectLst/>
                <a:latin typeface="Gill Sans MT" panose="020B0502020104020203" pitchFamily="34" charset="0"/>
                <a:ea typeface="Times New Roman" panose="02020603050405020304" pitchFamily="18" charset="0"/>
                <a:cs typeface="Times New Roman" panose="02020603050405020304" pitchFamily="18" charset="0"/>
              </a:rPr>
              <a:t>One type of detector that is primarily intended for identifying and reacting to the presence of a fire or flame is a flame sensor. Its fitment may affect the flame detection reaction. It has a fire suppression system, propane, a natural gas connection, and an alarm system. Boilers used in industry employ this sensor. This serves the primary purpose of verifying whether or not the boiler is operating correctly. Compared to a heat/smoke detector, these sensors respond more quickly and accurately due to their mechanism for detecting flames</a:t>
            </a:r>
          </a:p>
          <a:p>
            <a:endParaRPr lang="en-IN" dirty="0"/>
          </a:p>
        </p:txBody>
      </p:sp>
      <p:pic>
        <p:nvPicPr>
          <p:cNvPr id="5" name="Content Placeholder 4">
            <a:extLst>
              <a:ext uri="{FF2B5EF4-FFF2-40B4-BE49-F238E27FC236}">
                <a16:creationId xmlns:a16="http://schemas.microsoft.com/office/drawing/2014/main" id="{9DC04D34-3BBA-4AFF-B73C-B3A9E6CD75A6}"/>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5292080" y="2420888"/>
            <a:ext cx="3096344" cy="3528391"/>
          </a:xfrm>
          <a:prstGeom prst="rect">
            <a:avLst/>
          </a:prstGeom>
        </p:spPr>
      </p:pic>
    </p:spTree>
    <p:extLst>
      <p:ext uri="{BB962C8B-B14F-4D97-AF65-F5344CB8AC3E}">
        <p14:creationId xmlns:p14="http://schemas.microsoft.com/office/powerpoint/2010/main" val="1318365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6A1A4-BA99-BDED-7B64-2F8C05FA2428}"/>
              </a:ext>
            </a:extLst>
          </p:cNvPr>
          <p:cNvSpPr>
            <a:spLocks noGrp="1"/>
          </p:cNvSpPr>
          <p:nvPr>
            <p:ph type="title"/>
          </p:nvPr>
        </p:nvSpPr>
        <p:spPr/>
        <p:txBody>
          <a:bodyPr/>
          <a:lstStyle/>
          <a:p>
            <a:r>
              <a:rPr lang="en-US" sz="1800" b="1" kern="0" cap="all" dirty="0">
                <a:effectLst/>
                <a:latin typeface="Times New Roman" panose="02020603050405020304" pitchFamily="18" charset="0"/>
                <a:ea typeface="Times New Roman" panose="02020603050405020304" pitchFamily="18" charset="0"/>
              </a:rPr>
              <a:t>GSM (Global System for Mobile communications)</a:t>
            </a:r>
            <a:endParaRPr lang="en-IN" dirty="0"/>
          </a:p>
        </p:txBody>
      </p:sp>
      <p:sp>
        <p:nvSpPr>
          <p:cNvPr id="4" name="Content Placeholder 3">
            <a:extLst>
              <a:ext uri="{FF2B5EF4-FFF2-40B4-BE49-F238E27FC236}">
                <a16:creationId xmlns:a16="http://schemas.microsoft.com/office/drawing/2014/main" id="{94525740-E266-4511-4A37-DDF4A2DD8A4A}"/>
              </a:ext>
            </a:extLst>
          </p:cNvPr>
          <p:cNvSpPr>
            <a:spLocks noGrp="1"/>
          </p:cNvSpPr>
          <p:nvPr>
            <p:ph sz="half" idx="2"/>
          </p:nvPr>
        </p:nvSpPr>
        <p:spPr/>
        <p:txBody>
          <a:bodyPr>
            <a:normAutofit fontScale="77500" lnSpcReduction="20000"/>
          </a:bodyPr>
          <a:lstStyle/>
          <a:p>
            <a:pPr algn="just">
              <a:lnSpc>
                <a:spcPct val="150000"/>
              </a:lnSpc>
              <a:spcAft>
                <a:spcPts val="1000"/>
              </a:spcAft>
            </a:pPr>
            <a:r>
              <a:rPr lang="en-IN" sz="1800" dirty="0">
                <a:effectLst/>
                <a:latin typeface="Gill Sans MT" panose="020B0502020104020203" pitchFamily="34" charset="0"/>
                <a:ea typeface="Times New Roman" panose="02020603050405020304" pitchFamily="18" charset="0"/>
                <a:cs typeface="Times New Roman" panose="02020603050405020304" pitchFamily="18" charset="0"/>
              </a:rPr>
              <a:t>Since the Global System for Mobile Communications (GSM) is a cellular network, cell phones connect to it by looking for nearby cells. There are four distinct frequency ranges in which GSM networks function. Short message service (SMS, sometimes known as "text messaging"), which is now supported by various mobile protocols, was another low-cost alternative to voice calls that GSM invented. The standard's inclusion of the one global emergency phone number, 112, provides an additional benefit. Without knowing the local emergency number, this makes it simpler for foreign visitors to contact emergency services.</a:t>
            </a:r>
          </a:p>
        </p:txBody>
      </p:sp>
      <p:pic>
        <p:nvPicPr>
          <p:cNvPr id="5" name="Content Placeholder 4">
            <a:extLst>
              <a:ext uri="{FF2B5EF4-FFF2-40B4-BE49-F238E27FC236}">
                <a16:creationId xmlns:a16="http://schemas.microsoft.com/office/drawing/2014/main" id="{0997D1D9-74B9-4183-6DD2-0097DFBC2E94}"/>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628650" y="2348880"/>
            <a:ext cx="3295278" cy="3456384"/>
          </a:xfrm>
          <a:prstGeom prst="rect">
            <a:avLst/>
          </a:prstGeom>
        </p:spPr>
      </p:pic>
    </p:spTree>
    <p:extLst>
      <p:ext uri="{BB962C8B-B14F-4D97-AF65-F5344CB8AC3E}">
        <p14:creationId xmlns:p14="http://schemas.microsoft.com/office/powerpoint/2010/main" val="3966019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5AB88-2DB0-AFBA-4B7A-4FC470A3D396}"/>
              </a:ext>
            </a:extLst>
          </p:cNvPr>
          <p:cNvSpPr>
            <a:spLocks noGrp="1"/>
          </p:cNvSpPr>
          <p:nvPr>
            <p:ph type="title"/>
          </p:nvPr>
        </p:nvSpPr>
        <p:spPr/>
        <p:txBody>
          <a:bodyPr>
            <a:normAutofit/>
          </a:bodyPr>
          <a:lstStyle/>
          <a:p>
            <a:r>
              <a:rPr lang="en-US" sz="2400" b="1" kern="0" cap="all" dirty="0">
                <a:effectLst/>
                <a:latin typeface="Gill Sans MT" panose="020B0502020104020203" pitchFamily="34" charset="0"/>
                <a:ea typeface="Times New Roman" panose="02020603050405020304" pitchFamily="18" charset="0"/>
              </a:rPr>
              <a:t>dc motor</a:t>
            </a:r>
            <a:endParaRPr lang="en-IN" sz="2400" dirty="0">
              <a:latin typeface="Gill Sans MT" panose="020B0502020104020203" pitchFamily="34" charset="0"/>
            </a:endParaRPr>
          </a:p>
        </p:txBody>
      </p:sp>
      <p:sp>
        <p:nvSpPr>
          <p:cNvPr id="3" name="Content Placeholder 2">
            <a:extLst>
              <a:ext uri="{FF2B5EF4-FFF2-40B4-BE49-F238E27FC236}">
                <a16:creationId xmlns:a16="http://schemas.microsoft.com/office/drawing/2014/main" id="{4C370322-D002-DB00-6D19-E2B535AD8F3A}"/>
              </a:ext>
            </a:extLst>
          </p:cNvPr>
          <p:cNvSpPr>
            <a:spLocks noGrp="1"/>
          </p:cNvSpPr>
          <p:nvPr>
            <p:ph sz="half" idx="1"/>
          </p:nvPr>
        </p:nvSpPr>
        <p:spPr/>
        <p:txBody>
          <a:bodyPr/>
          <a:lstStyle/>
          <a:p>
            <a:pPr algn="just"/>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A DC motor is designed to run on DC electric power. Two examples of pure DC designs are Michael Faraday's homopolar motor (which is uncommon), and the ball-bearing motor, which is (so far) a novelty. By far, the most common DC motor types are the brushed and brushless types, which use internal and external commutation to create an oscillating AC from the DC source- so they are not purely DC machines in a strict sense.</a:t>
            </a:r>
            <a:endParaRPr lang="en-IN" sz="1800" dirty="0">
              <a:effectLst/>
              <a:latin typeface="Gill Sans MT" panose="020B0502020104020203" pitchFamily="34" charset="0"/>
              <a:ea typeface="Times New Roman" panose="02020603050405020304" pitchFamily="18" charset="0"/>
              <a:cs typeface="Times New Roman" panose="02020603050405020304" pitchFamily="18" charset="0"/>
            </a:endParaRPr>
          </a:p>
          <a:p>
            <a:pPr marL="0" indent="0">
              <a:buNone/>
            </a:pPr>
            <a:endParaRPr lang="en-IN" dirty="0"/>
          </a:p>
        </p:txBody>
      </p:sp>
      <p:pic>
        <p:nvPicPr>
          <p:cNvPr id="5" name="Content Placeholder 4">
            <a:extLst>
              <a:ext uri="{FF2B5EF4-FFF2-40B4-BE49-F238E27FC236}">
                <a16:creationId xmlns:a16="http://schemas.microsoft.com/office/drawing/2014/main" id="{A278E77E-3DD1-44B8-EEF4-1DA27C22E21B}"/>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5292080" y="2348881"/>
            <a:ext cx="2736304" cy="3600400"/>
          </a:xfrm>
          <a:prstGeom prst="rect">
            <a:avLst/>
          </a:prstGeom>
        </p:spPr>
      </p:pic>
    </p:spTree>
    <p:extLst>
      <p:ext uri="{BB962C8B-B14F-4D97-AF65-F5344CB8AC3E}">
        <p14:creationId xmlns:p14="http://schemas.microsoft.com/office/powerpoint/2010/main" val="802987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5AACC-19B3-E87E-617C-300D8CA4A031}"/>
              </a:ext>
            </a:extLst>
          </p:cNvPr>
          <p:cNvSpPr>
            <a:spLocks noGrp="1"/>
          </p:cNvSpPr>
          <p:nvPr>
            <p:ph type="title"/>
          </p:nvPr>
        </p:nvSpPr>
        <p:spPr/>
        <p:txBody>
          <a:bodyPr/>
          <a:lstStyle/>
          <a:p>
            <a:r>
              <a:rPr lang="en-IN" b="1" dirty="0" err="1">
                <a:latin typeface="Gill Sans MT" panose="020B0502020104020203" pitchFamily="34" charset="0"/>
              </a:rPr>
              <a:t>Softwares</a:t>
            </a:r>
            <a:r>
              <a:rPr lang="en-IN" b="1" dirty="0">
                <a:latin typeface="Gill Sans MT" panose="020B0502020104020203" pitchFamily="34" charset="0"/>
              </a:rPr>
              <a:t> Used:</a:t>
            </a:r>
          </a:p>
        </p:txBody>
      </p:sp>
      <p:sp>
        <p:nvSpPr>
          <p:cNvPr id="3" name="Content Placeholder 2">
            <a:extLst>
              <a:ext uri="{FF2B5EF4-FFF2-40B4-BE49-F238E27FC236}">
                <a16:creationId xmlns:a16="http://schemas.microsoft.com/office/drawing/2014/main" id="{8319FADD-14E2-7721-A9D5-D49DA6A52726}"/>
              </a:ext>
            </a:extLst>
          </p:cNvPr>
          <p:cNvSpPr>
            <a:spLocks noGrp="1"/>
          </p:cNvSpPr>
          <p:nvPr>
            <p:ph idx="1"/>
          </p:nvPr>
        </p:nvSpPr>
        <p:spPr/>
        <p:txBody>
          <a:bodyPr/>
          <a:lstStyle/>
          <a:p>
            <a:r>
              <a:rPr lang="en-IN" dirty="0">
                <a:latin typeface="Gill Sans MT" panose="020B0502020104020203" pitchFamily="34" charset="0"/>
              </a:rPr>
              <a:t>Embedded  C</a:t>
            </a:r>
          </a:p>
          <a:p>
            <a:r>
              <a:rPr lang="en-IN" dirty="0">
                <a:latin typeface="Gill Sans MT" panose="020B0502020104020203" pitchFamily="34" charset="0"/>
              </a:rPr>
              <a:t>Arduino IDE</a:t>
            </a:r>
          </a:p>
          <a:p>
            <a:r>
              <a:rPr lang="en-IN" dirty="0" err="1">
                <a:latin typeface="Gill Sans MT" panose="020B0502020104020203" pitchFamily="34" charset="0"/>
              </a:rPr>
              <a:t>ThingSpeak</a:t>
            </a:r>
            <a:r>
              <a:rPr lang="en-IN" dirty="0">
                <a:latin typeface="Gill Sans MT" panose="020B0502020104020203" pitchFamily="34" charset="0"/>
              </a:rPr>
              <a:t> cloud platform</a:t>
            </a:r>
          </a:p>
          <a:p>
            <a:endParaRPr lang="en-IN" dirty="0"/>
          </a:p>
        </p:txBody>
      </p:sp>
    </p:spTree>
    <p:extLst>
      <p:ext uri="{BB962C8B-B14F-4D97-AF65-F5344CB8AC3E}">
        <p14:creationId xmlns:p14="http://schemas.microsoft.com/office/powerpoint/2010/main" val="325616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6A551-0190-2BBF-09E0-38E5483DBA96}"/>
              </a:ext>
            </a:extLst>
          </p:cNvPr>
          <p:cNvSpPr>
            <a:spLocks noGrp="1"/>
          </p:cNvSpPr>
          <p:nvPr>
            <p:ph type="title"/>
          </p:nvPr>
        </p:nvSpPr>
        <p:spPr>
          <a:xfrm>
            <a:off x="628650" y="373236"/>
            <a:ext cx="7886700" cy="615602"/>
          </a:xfrm>
        </p:spPr>
        <p:txBody>
          <a:bodyPr>
            <a:normAutofit/>
          </a:bodyPr>
          <a:lstStyle/>
          <a:p>
            <a:r>
              <a:rPr lang="en-IN" sz="2400" b="1" dirty="0">
                <a:latin typeface="Gill Sans MT" panose="020B0502020104020203" pitchFamily="34" charset="0"/>
              </a:rPr>
              <a:t>Operation</a:t>
            </a:r>
            <a:r>
              <a:rPr lang="en-IN" sz="2400" dirty="0">
                <a:latin typeface="Gill Sans MT" panose="020B0502020104020203" pitchFamily="34" charset="0"/>
              </a:rPr>
              <a:t>: </a:t>
            </a:r>
          </a:p>
        </p:txBody>
      </p:sp>
      <p:sp>
        <p:nvSpPr>
          <p:cNvPr id="3" name="Content Placeholder 2">
            <a:extLst>
              <a:ext uri="{FF2B5EF4-FFF2-40B4-BE49-F238E27FC236}">
                <a16:creationId xmlns:a16="http://schemas.microsoft.com/office/drawing/2014/main" id="{F7CB0D50-5153-E00C-5DA5-15A8900EAE22}"/>
              </a:ext>
            </a:extLst>
          </p:cNvPr>
          <p:cNvSpPr>
            <a:spLocks noGrp="1"/>
          </p:cNvSpPr>
          <p:nvPr>
            <p:ph idx="1"/>
          </p:nvPr>
        </p:nvSpPr>
        <p:spPr>
          <a:xfrm>
            <a:off x="628650" y="1124744"/>
            <a:ext cx="7886700" cy="5052219"/>
          </a:xfrm>
        </p:spPr>
        <p:txBody>
          <a:bodyPr>
            <a:normAutofit/>
          </a:bodyPr>
          <a:lstStyle/>
          <a:p>
            <a:pPr algn="just"/>
            <a:r>
              <a:rPr lang="en-US" sz="2000" dirty="0">
                <a:latin typeface="Gill Sans MT" panose="020B0502020104020203" pitchFamily="34" charset="0"/>
              </a:rPr>
              <a:t>The car gets started only when the person who drives has not consumed the alcohol.</a:t>
            </a:r>
          </a:p>
          <a:p>
            <a:pPr algn="just"/>
            <a:r>
              <a:rPr lang="en-US" sz="2000" dirty="0">
                <a:latin typeface="Gill Sans MT" panose="020B0502020104020203" pitchFamily="34" charset="0"/>
              </a:rPr>
              <a:t>These sensors are connected to the Arduino UNO, which processes the data and triggers responses, such as sending alerts via the GSM module or displaying data on the LCD. The L293D motor driver controls DC motors for emergency responses, like unlocking doors, and the slide switch allows manual system control. The system is programmed to monitor real-time data, process the input, and activate safety mechanisms like SMS alerts during an emergency, while the ESP8266 facilitates remote monitoring via the internet. </a:t>
            </a:r>
            <a:endParaRPr lang="en-IN" sz="2000" dirty="0">
              <a:latin typeface="Gill Sans MT" panose="020B0502020104020203" pitchFamily="34" charset="0"/>
            </a:endParaRPr>
          </a:p>
        </p:txBody>
      </p:sp>
    </p:spTree>
    <p:extLst>
      <p:ext uri="{BB962C8B-B14F-4D97-AF65-F5344CB8AC3E}">
        <p14:creationId xmlns:p14="http://schemas.microsoft.com/office/powerpoint/2010/main" val="4279200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19BB6-8751-D4B0-C7AC-D9B442CE8F32}"/>
              </a:ext>
            </a:extLst>
          </p:cNvPr>
          <p:cNvSpPr>
            <a:spLocks noGrp="1"/>
          </p:cNvSpPr>
          <p:nvPr>
            <p:ph type="title"/>
          </p:nvPr>
        </p:nvSpPr>
        <p:spPr/>
        <p:txBody>
          <a:bodyPr>
            <a:normAutofit/>
          </a:bodyPr>
          <a:lstStyle/>
          <a:p>
            <a:pPr algn="ctr"/>
            <a:r>
              <a:rPr lang="en-US" sz="3600" u="sng" dirty="0">
                <a:latin typeface="Gill Sans MT" panose="020B0502020104020203" pitchFamily="34" charset="0"/>
                <a:cs typeface="Times New Roman" panose="02020603050405020304" pitchFamily="18" charset="0"/>
              </a:rPr>
              <a:t>ADVANTAGES</a:t>
            </a:r>
            <a:endParaRPr lang="en-IN" sz="2800" u="sng" dirty="0">
              <a:latin typeface="Gill Sans MT" panose="020B0502020104020203"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359BA7B-8D3B-8952-BD82-32A280A37899}"/>
              </a:ext>
            </a:extLst>
          </p:cNvPr>
          <p:cNvSpPr>
            <a:spLocks noGrp="1"/>
          </p:cNvSpPr>
          <p:nvPr>
            <p:ph idx="1"/>
          </p:nvPr>
        </p:nvSpPr>
        <p:spPr>
          <a:xfrm>
            <a:off x="628650" y="1412776"/>
            <a:ext cx="7886700" cy="5230934"/>
          </a:xfrm>
        </p:spPr>
        <p:txBody>
          <a:bodyPr>
            <a:normAutofit/>
          </a:bodyPr>
          <a:lstStyle/>
          <a:p>
            <a:pPr eaLnBrk="1" hangingPunct="1">
              <a:lnSpc>
                <a:spcPct val="200000"/>
              </a:lnSpc>
            </a:pPr>
            <a:r>
              <a:rPr lang="en-US" altLang="en-US" dirty="0">
                <a:latin typeface="Gill Sans MT" panose="020B0502020104020203" pitchFamily="34" charset="0"/>
              </a:rPr>
              <a:t>Alerts police and medical units about accidents.</a:t>
            </a:r>
          </a:p>
          <a:p>
            <a:pPr eaLnBrk="1" hangingPunct="1">
              <a:lnSpc>
                <a:spcPct val="200000"/>
              </a:lnSpc>
            </a:pPr>
            <a:r>
              <a:rPr lang="en-US" altLang="en-US" dirty="0">
                <a:latin typeface="Gill Sans MT" panose="020B0502020104020203" pitchFamily="34" charset="0"/>
              </a:rPr>
              <a:t> Simple design and can be interfaced with other systems.</a:t>
            </a:r>
          </a:p>
          <a:p>
            <a:pPr eaLnBrk="1" hangingPunct="1">
              <a:lnSpc>
                <a:spcPct val="200000"/>
              </a:lnSpc>
            </a:pPr>
            <a:r>
              <a:rPr lang="en-US" altLang="en-US" dirty="0">
                <a:latin typeface="Gill Sans MT" panose="020B0502020104020203" pitchFamily="34" charset="0"/>
              </a:rPr>
              <a:t> Easy to operate by the user.</a:t>
            </a:r>
          </a:p>
          <a:p>
            <a:pPr eaLnBrk="1" hangingPunct="1">
              <a:lnSpc>
                <a:spcPct val="200000"/>
              </a:lnSpc>
            </a:pPr>
            <a:r>
              <a:rPr lang="en-US" altLang="en-US" dirty="0">
                <a:latin typeface="Gill Sans MT" panose="020B0502020104020203" pitchFamily="34" charset="0"/>
              </a:rPr>
              <a:t> Reliable system.</a:t>
            </a:r>
          </a:p>
          <a:p>
            <a:pPr eaLnBrk="1" hangingPunct="1">
              <a:lnSpc>
                <a:spcPct val="200000"/>
              </a:lnSpc>
            </a:pPr>
            <a:r>
              <a:rPr lang="en-US" altLang="en-US" dirty="0">
                <a:latin typeface="Gill Sans MT" panose="020B0502020104020203" pitchFamily="34" charset="0"/>
              </a:rPr>
              <a:t> Easy to take action immediately.</a:t>
            </a:r>
          </a:p>
          <a:p>
            <a:pPr marL="0" indent="0">
              <a:buNone/>
            </a:pPr>
            <a:endParaRPr lang="en-IN" dirty="0"/>
          </a:p>
        </p:txBody>
      </p:sp>
      <p:pic>
        <p:nvPicPr>
          <p:cNvPr id="4" name="image1.png">
            <a:extLst>
              <a:ext uri="{FF2B5EF4-FFF2-40B4-BE49-F238E27FC236}">
                <a16:creationId xmlns:a16="http://schemas.microsoft.com/office/drawing/2014/main" id="{5DCB26C4-A523-27D2-4494-0B3D29790E21}"/>
              </a:ext>
            </a:extLst>
          </p:cNvPr>
          <p:cNvPicPr/>
          <p:nvPr/>
        </p:nvPicPr>
        <p:blipFill>
          <a:blip r:embed="rId2" cstate="print"/>
          <a:stretch>
            <a:fillRect/>
          </a:stretch>
        </p:blipFill>
        <p:spPr>
          <a:xfrm>
            <a:off x="7884368" y="214290"/>
            <a:ext cx="1057894" cy="838446"/>
          </a:xfrm>
          <a:prstGeom prst="rect">
            <a:avLst/>
          </a:prstGeom>
        </p:spPr>
      </p:pic>
    </p:spTree>
    <p:extLst>
      <p:ext uri="{BB962C8B-B14F-4D97-AF65-F5344CB8AC3E}">
        <p14:creationId xmlns:p14="http://schemas.microsoft.com/office/powerpoint/2010/main" val="6855494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C34C-0950-1ABD-23F9-89A0E40624F6}"/>
              </a:ext>
            </a:extLst>
          </p:cNvPr>
          <p:cNvSpPr>
            <a:spLocks noGrp="1"/>
          </p:cNvSpPr>
          <p:nvPr>
            <p:ph type="title"/>
          </p:nvPr>
        </p:nvSpPr>
        <p:spPr/>
        <p:txBody>
          <a:bodyPr/>
          <a:lstStyle/>
          <a:p>
            <a:r>
              <a:rPr lang="en-IN" dirty="0">
                <a:latin typeface="Gill Sans MT" panose="020B0502020104020203" pitchFamily="34" charset="0"/>
              </a:rPr>
              <a:t>Applications</a:t>
            </a:r>
            <a:r>
              <a:rPr lang="en-IN" dirty="0"/>
              <a:t> </a:t>
            </a:r>
          </a:p>
        </p:txBody>
      </p:sp>
      <p:sp>
        <p:nvSpPr>
          <p:cNvPr id="3" name="Content Placeholder 2">
            <a:extLst>
              <a:ext uri="{FF2B5EF4-FFF2-40B4-BE49-F238E27FC236}">
                <a16:creationId xmlns:a16="http://schemas.microsoft.com/office/drawing/2014/main" id="{606947DA-7EA4-C1B0-BF0B-64DC8FD2DD57}"/>
              </a:ext>
            </a:extLst>
          </p:cNvPr>
          <p:cNvSpPr>
            <a:spLocks noGrp="1"/>
          </p:cNvSpPr>
          <p:nvPr>
            <p:ph idx="1"/>
          </p:nvPr>
        </p:nvSpPr>
        <p:spPr/>
        <p:txBody>
          <a:bodyPr>
            <a:normAutofit lnSpcReduction="10000"/>
          </a:bodyPr>
          <a:lstStyle/>
          <a:p>
            <a:r>
              <a:rPr lang="en-US" dirty="0">
                <a:latin typeface="Gill Sans MT" panose="020B0502020104020203" pitchFamily="34" charset="0"/>
              </a:rPr>
              <a:t>Prevents drunk driving by stopping the vehicle if the driver is under the influence of alcohol.</a:t>
            </a:r>
          </a:p>
          <a:p>
            <a:pPr marL="0" indent="0">
              <a:buNone/>
            </a:pPr>
            <a:r>
              <a:rPr lang="en-US" dirty="0">
                <a:latin typeface="Gill Sans MT" panose="020B0502020104020203" pitchFamily="34" charset="0"/>
              </a:rPr>
              <a:t> ▪ Improves road safety by reducing the chances of accidents caused by impaired driving.</a:t>
            </a:r>
          </a:p>
          <a:p>
            <a:pPr marL="0" indent="0">
              <a:buNone/>
            </a:pPr>
            <a:r>
              <a:rPr lang="en-US" dirty="0">
                <a:latin typeface="Gill Sans MT" panose="020B0502020104020203" pitchFamily="34" charset="0"/>
              </a:rPr>
              <a:t> ▪ Sends emergency alerts with GPS location to a contact person when a crash happens.</a:t>
            </a:r>
          </a:p>
          <a:p>
            <a:pPr marL="0" indent="0">
              <a:buNone/>
            </a:pPr>
            <a:r>
              <a:rPr lang="en-US" dirty="0">
                <a:latin typeface="Gill Sans MT" panose="020B0502020104020203" pitchFamily="34" charset="0"/>
              </a:rPr>
              <a:t> ▪ Helps emergency teams find the accident spot quickly and provide fast help.</a:t>
            </a:r>
          </a:p>
          <a:p>
            <a:pPr marL="0" indent="0">
              <a:buNone/>
            </a:pPr>
            <a:r>
              <a:rPr lang="en-US" dirty="0">
                <a:latin typeface="Gill Sans MT" panose="020B0502020104020203" pitchFamily="34" charset="0"/>
              </a:rPr>
              <a:t> ▪ Detects vehicle fires and sends the vehicle’s location to fire services for quick action.</a:t>
            </a:r>
          </a:p>
          <a:p>
            <a:pPr marL="0" indent="0">
              <a:buNone/>
            </a:pPr>
            <a:r>
              <a:rPr lang="en-US" dirty="0">
                <a:latin typeface="Gill Sans MT" panose="020B0502020104020203" pitchFamily="34" charset="0"/>
              </a:rPr>
              <a:t> ▪ Stores all data (like alcohol level, accidents, fire, GPS info) on the </a:t>
            </a:r>
            <a:r>
              <a:rPr lang="en-US" dirty="0" err="1">
                <a:latin typeface="Gill Sans MT" panose="020B0502020104020203" pitchFamily="34" charset="0"/>
              </a:rPr>
              <a:t>Thingspeak</a:t>
            </a:r>
            <a:r>
              <a:rPr lang="en-US" dirty="0">
                <a:latin typeface="Gill Sans MT" panose="020B0502020104020203" pitchFamily="34" charset="0"/>
              </a:rPr>
              <a:t> IoT platform .</a:t>
            </a:r>
          </a:p>
          <a:p>
            <a:pPr marL="0" indent="0">
              <a:buNone/>
            </a:pPr>
            <a:r>
              <a:rPr lang="en-US" dirty="0">
                <a:latin typeface="Gill Sans MT" panose="020B0502020104020203" pitchFamily="34" charset="0"/>
              </a:rPr>
              <a:t>▪ Allows accident analysis on </a:t>
            </a:r>
            <a:r>
              <a:rPr lang="en-US" dirty="0" err="1">
                <a:latin typeface="Gill Sans MT" panose="020B0502020104020203" pitchFamily="34" charset="0"/>
              </a:rPr>
              <a:t>Thingspeak</a:t>
            </a:r>
            <a:r>
              <a:rPr lang="en-US" dirty="0">
                <a:latin typeface="Gill Sans MT" panose="020B0502020104020203" pitchFamily="34" charset="0"/>
              </a:rPr>
              <a:t>, which can help understand causes and patterns of accidents </a:t>
            </a:r>
            <a:endParaRPr lang="en-IN" dirty="0">
              <a:latin typeface="Gill Sans MT" panose="020B0502020104020203" pitchFamily="34" charset="0"/>
            </a:endParaRPr>
          </a:p>
        </p:txBody>
      </p:sp>
    </p:spTree>
    <p:extLst>
      <p:ext uri="{BB962C8B-B14F-4D97-AF65-F5344CB8AC3E}">
        <p14:creationId xmlns:p14="http://schemas.microsoft.com/office/powerpoint/2010/main" val="2135651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46AAD-EC1A-C48F-3F83-ADEA9F9C7B4F}"/>
              </a:ext>
            </a:extLst>
          </p:cNvPr>
          <p:cNvSpPr>
            <a:spLocks noGrp="1"/>
          </p:cNvSpPr>
          <p:nvPr>
            <p:ph type="title"/>
          </p:nvPr>
        </p:nvSpPr>
        <p:spPr/>
        <p:txBody>
          <a:bodyPr>
            <a:normAutofit/>
          </a:bodyPr>
          <a:lstStyle/>
          <a:p>
            <a:pPr algn="ctr"/>
            <a:r>
              <a:rPr lang="en-IN" sz="3600" u="sng" dirty="0">
                <a:latin typeface="Gill Sans MT" panose="020B0502020104020203" pitchFamily="34" charset="0"/>
              </a:rPr>
              <a:t>RESULTS</a:t>
            </a:r>
          </a:p>
        </p:txBody>
      </p:sp>
      <p:sp>
        <p:nvSpPr>
          <p:cNvPr id="3" name="Content Placeholder 2">
            <a:extLst>
              <a:ext uri="{FF2B5EF4-FFF2-40B4-BE49-F238E27FC236}">
                <a16:creationId xmlns:a16="http://schemas.microsoft.com/office/drawing/2014/main" id="{810D5931-2D8D-5E54-6A8B-8CAF2E31DA27}"/>
              </a:ext>
            </a:extLst>
          </p:cNvPr>
          <p:cNvSpPr>
            <a:spLocks noGrp="1"/>
          </p:cNvSpPr>
          <p:nvPr>
            <p:ph idx="1"/>
          </p:nvPr>
        </p:nvSpPr>
        <p:spPr/>
        <p:txBody>
          <a:bodyPr/>
          <a:lstStyle/>
          <a:p>
            <a:pPr>
              <a:lnSpc>
                <a:spcPct val="150000"/>
              </a:lnSpc>
            </a:pPr>
            <a:r>
              <a:rPr lang="en-US" sz="1800" dirty="0">
                <a:effectLst/>
                <a:latin typeface="Gill Sans MT" panose="020B0502020104020203" pitchFamily="34" charset="0"/>
                <a:ea typeface="Times New Roman" panose="02020603050405020304" pitchFamily="18" charset="0"/>
              </a:rPr>
              <a:t>The system is designed to enhance road safety by preventing drunk driving and facilitating emergency response in the event of an accident or fire. To accomplish this, the system includes an automated mechanism that disables vehicle operation when the driver is detected to be under the influence of alcohol. This proactive measure helps prevent impaired individuals from driving, thereby reducing the risk of accidents. In the case of a collision, the system automatically sends the vehicle’s GPS location to a designated emergency contact. </a:t>
            </a:r>
            <a:endParaRPr lang="en-IN" dirty="0">
              <a:latin typeface="Gill Sans MT" panose="020B0502020104020203" pitchFamily="34" charset="0"/>
            </a:endParaRPr>
          </a:p>
        </p:txBody>
      </p:sp>
    </p:spTree>
    <p:extLst>
      <p:ext uri="{BB962C8B-B14F-4D97-AF65-F5344CB8AC3E}">
        <p14:creationId xmlns:p14="http://schemas.microsoft.com/office/powerpoint/2010/main" val="2402756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EC22BD-5FDD-27A4-71DD-6E57E0486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692696"/>
            <a:ext cx="3672408" cy="4320480"/>
          </a:xfrm>
          <a:prstGeom prst="rect">
            <a:avLst/>
          </a:prstGeom>
        </p:spPr>
      </p:pic>
      <p:pic>
        <p:nvPicPr>
          <p:cNvPr id="3" name="Picture 2">
            <a:extLst>
              <a:ext uri="{FF2B5EF4-FFF2-40B4-BE49-F238E27FC236}">
                <a16:creationId xmlns:a16="http://schemas.microsoft.com/office/drawing/2014/main" id="{0E73DDD6-E763-1BBE-3B2A-C69B94BA79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8024" y="764704"/>
            <a:ext cx="3672408" cy="4104456"/>
          </a:xfrm>
          <a:prstGeom prst="rect">
            <a:avLst/>
          </a:prstGeom>
        </p:spPr>
      </p:pic>
      <p:sp>
        <p:nvSpPr>
          <p:cNvPr id="7" name="TextBox 6">
            <a:extLst>
              <a:ext uri="{FF2B5EF4-FFF2-40B4-BE49-F238E27FC236}">
                <a16:creationId xmlns:a16="http://schemas.microsoft.com/office/drawing/2014/main" id="{3B516F37-E93D-91D9-852E-5557EE36FB33}"/>
              </a:ext>
            </a:extLst>
          </p:cNvPr>
          <p:cNvSpPr txBox="1"/>
          <p:nvPr/>
        </p:nvSpPr>
        <p:spPr>
          <a:xfrm>
            <a:off x="1583668" y="5229200"/>
            <a:ext cx="2160240" cy="369332"/>
          </a:xfrm>
          <a:prstGeom prst="rect">
            <a:avLst/>
          </a:prstGeom>
          <a:noFill/>
        </p:spPr>
        <p:txBody>
          <a:bodyPr wrap="square">
            <a:spAutoFit/>
          </a:bodyPr>
          <a:lstStyle/>
          <a:p>
            <a:r>
              <a:rPr lang="en-US" sz="1800" dirty="0">
                <a:effectLst/>
                <a:latin typeface="Times New Roman" panose="02020603050405020304" pitchFamily="18" charset="0"/>
                <a:ea typeface="Times New Roman" panose="02020603050405020304" pitchFamily="18" charset="0"/>
              </a:rPr>
              <a:t>Fig: Hardware Setup </a:t>
            </a:r>
            <a:endParaRPr lang="en-IN" dirty="0"/>
          </a:p>
        </p:txBody>
      </p:sp>
      <p:sp>
        <p:nvSpPr>
          <p:cNvPr id="9" name="TextBox 8">
            <a:extLst>
              <a:ext uri="{FF2B5EF4-FFF2-40B4-BE49-F238E27FC236}">
                <a16:creationId xmlns:a16="http://schemas.microsoft.com/office/drawing/2014/main" id="{9BA32CDF-01A7-7509-3ACF-2345E715F5C4}"/>
              </a:ext>
            </a:extLst>
          </p:cNvPr>
          <p:cNvSpPr txBox="1"/>
          <p:nvPr/>
        </p:nvSpPr>
        <p:spPr>
          <a:xfrm>
            <a:off x="5274332" y="5229200"/>
            <a:ext cx="4572000" cy="369332"/>
          </a:xfrm>
          <a:prstGeom prst="rect">
            <a:avLst/>
          </a:prstGeom>
          <a:noFill/>
        </p:spPr>
        <p:txBody>
          <a:bodyPr wrap="square">
            <a:spAutoFit/>
          </a:bodyPr>
          <a:lstStyle/>
          <a:p>
            <a:r>
              <a:rPr lang="en-US" sz="1800" dirty="0">
                <a:effectLst/>
                <a:latin typeface="Times New Roman" panose="02020603050405020304" pitchFamily="18" charset="0"/>
                <a:ea typeface="Times New Roman" panose="02020603050405020304" pitchFamily="18" charset="0"/>
              </a:rPr>
              <a:t>Fig: </a:t>
            </a:r>
            <a:r>
              <a:rPr lang="en-US" sz="1800" dirty="0" err="1">
                <a:effectLst/>
                <a:latin typeface="Times New Roman" panose="02020603050405020304" pitchFamily="18" charset="0"/>
                <a:ea typeface="Times New Roman" panose="02020603050405020304" pitchFamily="18" charset="0"/>
              </a:rPr>
              <a:t>Thingspeak</a:t>
            </a:r>
            <a:r>
              <a:rPr lang="en-US" sz="1800" dirty="0">
                <a:effectLst/>
                <a:latin typeface="Times New Roman" panose="02020603050405020304" pitchFamily="18" charset="0"/>
                <a:ea typeface="Times New Roman" panose="02020603050405020304" pitchFamily="18" charset="0"/>
              </a:rPr>
              <a:t> Output</a:t>
            </a:r>
            <a:endParaRPr lang="en-IN" dirty="0"/>
          </a:p>
        </p:txBody>
      </p:sp>
    </p:spTree>
    <p:extLst>
      <p:ext uri="{BB962C8B-B14F-4D97-AF65-F5344CB8AC3E}">
        <p14:creationId xmlns:p14="http://schemas.microsoft.com/office/powerpoint/2010/main" val="2095122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B4247-B6BE-9D51-7475-05F2244BCFF7}"/>
              </a:ext>
            </a:extLst>
          </p:cNvPr>
          <p:cNvSpPr>
            <a:spLocks noGrp="1"/>
          </p:cNvSpPr>
          <p:nvPr>
            <p:ph type="title"/>
          </p:nvPr>
        </p:nvSpPr>
        <p:spPr/>
        <p:txBody>
          <a:bodyPr/>
          <a:lstStyle/>
          <a:p>
            <a:r>
              <a:rPr lang="en-IN" dirty="0">
                <a:latin typeface="Gill Sans MT" panose="020B0502020104020203" pitchFamily="34" charset="0"/>
              </a:rPr>
              <a:t>Output explanation</a:t>
            </a:r>
          </a:p>
        </p:txBody>
      </p:sp>
      <p:sp>
        <p:nvSpPr>
          <p:cNvPr id="3" name="Content Placeholder 2">
            <a:extLst>
              <a:ext uri="{FF2B5EF4-FFF2-40B4-BE49-F238E27FC236}">
                <a16:creationId xmlns:a16="http://schemas.microsoft.com/office/drawing/2014/main" id="{95E9E4CD-A34A-E41D-9A54-0E23A7704641}"/>
              </a:ext>
            </a:extLst>
          </p:cNvPr>
          <p:cNvSpPr>
            <a:spLocks noGrp="1"/>
          </p:cNvSpPr>
          <p:nvPr>
            <p:ph idx="1"/>
          </p:nvPr>
        </p:nvSpPr>
        <p:spPr/>
        <p:txBody>
          <a:bodyPr/>
          <a:lstStyle/>
          <a:p>
            <a:pPr algn="just"/>
            <a:r>
              <a:rPr lang="en-US" dirty="0">
                <a:latin typeface="Gill Sans MT" panose="020B0502020104020203" pitchFamily="34" charset="0"/>
              </a:rPr>
              <a:t>The image displays a dashboard from </a:t>
            </a:r>
            <a:r>
              <a:rPr lang="en-US" dirty="0" err="1">
                <a:latin typeface="Gill Sans MT" panose="020B0502020104020203" pitchFamily="34" charset="0"/>
              </a:rPr>
              <a:t>ThingSpeak</a:t>
            </a:r>
            <a:r>
              <a:rPr lang="en-US" dirty="0">
                <a:latin typeface="Gill Sans MT" panose="020B0502020104020203" pitchFamily="34" charset="0"/>
              </a:rPr>
              <a:t> showing real-time data visualizations for an IoT-based accident monitoring system. There are four separate field charts, each representing different sensor readings: temperature, fire detection, gas level, and angle. These parameters are crucial for detecting potential accidents or hazardous events. The temperature chart shows a significant increase, indicating a possible rise in environmental heat. The fire and gas readings appear constant, while the angle chart shows fluctuations that could suggest a tilt or impact—useful for detecting vehicle accidents. Together, these graphs demonstrate how IoT can be utilized for continuous monitoring and </a:t>
            </a:r>
            <a:r>
              <a:rPr lang="en-US" dirty="0" err="1">
                <a:latin typeface="Gill Sans MT" panose="020B0502020104020203" pitchFamily="34" charset="0"/>
              </a:rPr>
              <a:t>quickresponse</a:t>
            </a:r>
            <a:r>
              <a:rPr lang="en-US" dirty="0">
                <a:latin typeface="Gill Sans MT" panose="020B0502020104020203" pitchFamily="34" charset="0"/>
              </a:rPr>
              <a:t> in accident scenarios. </a:t>
            </a:r>
            <a:endParaRPr lang="en-IN" dirty="0">
              <a:latin typeface="Gill Sans MT" panose="020B0502020104020203" pitchFamily="34" charset="0"/>
            </a:endParaRPr>
          </a:p>
        </p:txBody>
      </p:sp>
    </p:spTree>
    <p:extLst>
      <p:ext uri="{BB962C8B-B14F-4D97-AF65-F5344CB8AC3E}">
        <p14:creationId xmlns:p14="http://schemas.microsoft.com/office/powerpoint/2010/main" val="15072331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B5995-6436-A8D2-C4FB-321E422D8374}"/>
              </a:ext>
            </a:extLst>
          </p:cNvPr>
          <p:cNvSpPr>
            <a:spLocks noGrp="1"/>
          </p:cNvSpPr>
          <p:nvPr>
            <p:ph type="title"/>
          </p:nvPr>
        </p:nvSpPr>
        <p:spPr/>
        <p:txBody>
          <a:bodyPr/>
          <a:lstStyle/>
          <a:p>
            <a:r>
              <a:rPr lang="en-IN" dirty="0">
                <a:latin typeface="Gill Sans MT" panose="020B0502020104020203" pitchFamily="34" charset="0"/>
              </a:rPr>
              <a:t>Output in LCD </a:t>
            </a:r>
          </a:p>
        </p:txBody>
      </p:sp>
      <p:sp>
        <p:nvSpPr>
          <p:cNvPr id="3" name="Content Placeholder 2">
            <a:extLst>
              <a:ext uri="{FF2B5EF4-FFF2-40B4-BE49-F238E27FC236}">
                <a16:creationId xmlns:a16="http://schemas.microsoft.com/office/drawing/2014/main" id="{6A9D67DC-F895-292E-BB72-1551416615DD}"/>
              </a:ext>
            </a:extLst>
          </p:cNvPr>
          <p:cNvSpPr>
            <a:spLocks noGrp="1"/>
          </p:cNvSpPr>
          <p:nvPr>
            <p:ph sz="half" idx="1"/>
          </p:nvPr>
        </p:nvSpPr>
        <p:spPr/>
        <p:txBody>
          <a:bodyPr>
            <a:normAutofit lnSpcReduction="10000"/>
          </a:bodyPr>
          <a:lstStyle/>
          <a:p>
            <a:pPr algn="just"/>
            <a:r>
              <a:rPr lang="en-US" sz="1800" dirty="0">
                <a:latin typeface="Gill Sans MT" panose="020B0502020104020203" pitchFamily="34" charset="0"/>
                <a:ea typeface="Times New Roman" panose="02020603050405020304" pitchFamily="18" charset="0"/>
              </a:rPr>
              <a:t>T</a:t>
            </a:r>
            <a:r>
              <a:rPr lang="en-US" sz="1800" dirty="0">
                <a:effectLst/>
                <a:latin typeface="Gill Sans MT" panose="020B0502020104020203" pitchFamily="34" charset="0"/>
                <a:ea typeface="Times New Roman" panose="02020603050405020304" pitchFamily="18" charset="0"/>
              </a:rPr>
              <a:t>here's an Arduino microcontroller connected to a GSM module, a GPS module, sensors (such as a temperature and humidity sensor), and a display. The LCD screen is actively displaying real-time data including temperature (T: 32.90°C), humidity (H: 45.00%), fire detection (F: N), gas detection (G: N), and acceleration (AC: 1.24), indicating the system is functioning and collecting live environmental and motion data. Powered by rechargeable batteries, this compact setup is designed for use in smart safety systems—especially for vehicle accident detection</a:t>
            </a:r>
            <a:r>
              <a:rPr lang="en-US" sz="1800" spc="-35" dirty="0">
                <a:effectLst/>
                <a:latin typeface="Gill Sans MT" panose="020B0502020104020203" pitchFamily="34" charset="0"/>
                <a:ea typeface="Times New Roman" panose="02020603050405020304" pitchFamily="18" charset="0"/>
              </a:rPr>
              <a:t> </a:t>
            </a:r>
            <a:r>
              <a:rPr lang="en-US" sz="1800" dirty="0">
                <a:effectLst/>
                <a:latin typeface="Gill Sans MT" panose="020B0502020104020203" pitchFamily="34" charset="0"/>
                <a:ea typeface="Times New Roman" panose="02020603050405020304" pitchFamily="18" charset="0"/>
              </a:rPr>
              <a:t>and</a:t>
            </a:r>
            <a:r>
              <a:rPr lang="en-US" sz="1800" spc="-55" dirty="0">
                <a:effectLst/>
                <a:latin typeface="Gill Sans MT" panose="020B0502020104020203" pitchFamily="34" charset="0"/>
                <a:ea typeface="Times New Roman" panose="02020603050405020304" pitchFamily="18" charset="0"/>
              </a:rPr>
              <a:t> </a:t>
            </a:r>
            <a:r>
              <a:rPr lang="en-US" sz="1800" dirty="0">
                <a:effectLst/>
                <a:latin typeface="Gill Sans MT" panose="020B0502020104020203" pitchFamily="34" charset="0"/>
                <a:ea typeface="Times New Roman" panose="02020603050405020304" pitchFamily="18" charset="0"/>
              </a:rPr>
              <a:t>alerting—by</a:t>
            </a:r>
            <a:r>
              <a:rPr lang="en-US" sz="1800" spc="-75" dirty="0">
                <a:effectLst/>
                <a:latin typeface="Gill Sans MT" panose="020B0502020104020203" pitchFamily="34" charset="0"/>
                <a:ea typeface="Times New Roman" panose="02020603050405020304" pitchFamily="18" charset="0"/>
              </a:rPr>
              <a:t> </a:t>
            </a:r>
            <a:r>
              <a:rPr lang="en-US" sz="1800" dirty="0">
                <a:effectLst/>
                <a:latin typeface="Gill Sans MT" panose="020B0502020104020203" pitchFamily="34" charset="0"/>
                <a:ea typeface="Times New Roman" panose="02020603050405020304" pitchFamily="18" charset="0"/>
              </a:rPr>
              <a:t>collecting</a:t>
            </a:r>
            <a:r>
              <a:rPr lang="en-US" sz="1800" spc="-50" dirty="0">
                <a:effectLst/>
                <a:latin typeface="Gill Sans MT" panose="020B0502020104020203" pitchFamily="34" charset="0"/>
                <a:ea typeface="Times New Roman" panose="02020603050405020304" pitchFamily="18" charset="0"/>
              </a:rPr>
              <a:t> </a:t>
            </a:r>
            <a:r>
              <a:rPr lang="en-US" sz="1800" dirty="0">
                <a:effectLst/>
                <a:latin typeface="Gill Sans MT" panose="020B0502020104020203" pitchFamily="34" charset="0"/>
                <a:ea typeface="Times New Roman" panose="02020603050405020304" pitchFamily="18" charset="0"/>
              </a:rPr>
              <a:t>critical parameters</a:t>
            </a:r>
            <a:r>
              <a:rPr lang="en-US" sz="1800" spc="-60" dirty="0">
                <a:effectLst/>
                <a:latin typeface="Gill Sans MT" panose="020B0502020104020203" pitchFamily="34" charset="0"/>
                <a:ea typeface="Times New Roman" panose="02020603050405020304" pitchFamily="18" charset="0"/>
              </a:rPr>
              <a:t> </a:t>
            </a:r>
            <a:r>
              <a:rPr lang="en-US" sz="1800" dirty="0">
                <a:effectLst/>
                <a:latin typeface="Gill Sans MT" panose="020B0502020104020203" pitchFamily="34" charset="0"/>
                <a:ea typeface="Times New Roman" panose="02020603050405020304" pitchFamily="18" charset="0"/>
              </a:rPr>
              <a:t>and</a:t>
            </a:r>
            <a:r>
              <a:rPr lang="en-US" sz="1800" spc="-75" dirty="0">
                <a:effectLst/>
                <a:latin typeface="Gill Sans MT" panose="020B0502020104020203" pitchFamily="34" charset="0"/>
                <a:ea typeface="Times New Roman" panose="02020603050405020304" pitchFamily="18" charset="0"/>
              </a:rPr>
              <a:t> </a:t>
            </a:r>
            <a:r>
              <a:rPr lang="en-US" sz="1800" dirty="0">
                <a:effectLst/>
                <a:latin typeface="Gill Sans MT" panose="020B0502020104020203" pitchFamily="34" charset="0"/>
                <a:ea typeface="Times New Roman" panose="02020603050405020304" pitchFamily="18" charset="0"/>
              </a:rPr>
              <a:t>transmitting</a:t>
            </a:r>
            <a:r>
              <a:rPr lang="en-US" sz="1800" spc="-50" dirty="0">
                <a:effectLst/>
                <a:latin typeface="Gill Sans MT" panose="020B0502020104020203" pitchFamily="34" charset="0"/>
                <a:ea typeface="Times New Roman" panose="02020603050405020304" pitchFamily="18" charset="0"/>
              </a:rPr>
              <a:t> </a:t>
            </a:r>
            <a:r>
              <a:rPr lang="en-US" sz="1800" dirty="0">
                <a:effectLst/>
                <a:latin typeface="Gill Sans MT" panose="020B0502020104020203" pitchFamily="34" charset="0"/>
                <a:ea typeface="Times New Roman" panose="02020603050405020304" pitchFamily="18" charset="0"/>
              </a:rPr>
              <a:t>them remotely via GSM.</a:t>
            </a:r>
            <a:endParaRPr lang="en-IN" sz="1800" dirty="0">
              <a:effectLst/>
              <a:latin typeface="Gill Sans MT" panose="020B0502020104020203" pitchFamily="34" charset="0"/>
              <a:ea typeface="Times New Roman" panose="02020603050405020304" pitchFamily="18" charset="0"/>
            </a:endParaRPr>
          </a:p>
          <a:p>
            <a:pPr marL="0" indent="0">
              <a:buNone/>
            </a:pPr>
            <a:endParaRPr lang="en-IN" dirty="0"/>
          </a:p>
        </p:txBody>
      </p:sp>
      <p:pic>
        <p:nvPicPr>
          <p:cNvPr id="5" name="Image 89">
            <a:extLst>
              <a:ext uri="{FF2B5EF4-FFF2-40B4-BE49-F238E27FC236}">
                <a16:creationId xmlns:a16="http://schemas.microsoft.com/office/drawing/2014/main" id="{2A6E4FC8-B3CB-2416-2FEC-BAC4E09F131B}"/>
              </a:ext>
            </a:extLst>
          </p:cNvPr>
          <p:cNvPicPr>
            <a:picLocks noGrp="1"/>
          </p:cNvPicPr>
          <p:nvPr>
            <p:ph sz="half" idx="2"/>
          </p:nvPr>
        </p:nvPicPr>
        <p:blipFill>
          <a:blip r:embed="rId2" cstate="print"/>
          <a:stretch>
            <a:fillRect/>
          </a:stretch>
        </p:blipFill>
        <p:spPr>
          <a:xfrm>
            <a:off x="5167642" y="1825625"/>
            <a:ext cx="2809215" cy="4351338"/>
          </a:xfrm>
          <a:prstGeom prst="rect">
            <a:avLst/>
          </a:prstGeom>
        </p:spPr>
      </p:pic>
    </p:spTree>
    <p:extLst>
      <p:ext uri="{BB962C8B-B14F-4D97-AF65-F5344CB8AC3E}">
        <p14:creationId xmlns:p14="http://schemas.microsoft.com/office/powerpoint/2010/main" val="3503564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3AE64C-8761-1200-A8F2-E5E9B581EE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548680"/>
            <a:ext cx="3456384" cy="5040560"/>
          </a:xfrm>
          <a:prstGeom prst="rect">
            <a:avLst/>
          </a:prstGeom>
        </p:spPr>
      </p:pic>
      <p:sp>
        <p:nvSpPr>
          <p:cNvPr id="4" name="TextBox 3">
            <a:extLst>
              <a:ext uri="{FF2B5EF4-FFF2-40B4-BE49-F238E27FC236}">
                <a16:creationId xmlns:a16="http://schemas.microsoft.com/office/drawing/2014/main" id="{63FFAF12-7DA9-2219-E7DC-CA6632FA989D}"/>
              </a:ext>
            </a:extLst>
          </p:cNvPr>
          <p:cNvSpPr txBox="1"/>
          <p:nvPr/>
        </p:nvSpPr>
        <p:spPr>
          <a:xfrm>
            <a:off x="1412776" y="5733256"/>
            <a:ext cx="1997968" cy="369332"/>
          </a:xfrm>
          <a:prstGeom prst="rect">
            <a:avLst/>
          </a:prstGeom>
          <a:noFill/>
        </p:spPr>
        <p:txBody>
          <a:bodyPr wrap="square">
            <a:spAutoFit/>
          </a:bodyPr>
          <a:lstStyle/>
          <a:p>
            <a:r>
              <a:rPr lang="en-US" sz="1800">
                <a:effectLst/>
                <a:latin typeface="Times New Roman" panose="02020603050405020304" pitchFamily="18" charset="0"/>
                <a:ea typeface="Times New Roman" panose="02020603050405020304" pitchFamily="18" charset="0"/>
              </a:rPr>
              <a:t>Fig: Message </a:t>
            </a:r>
            <a:endParaRPr lang="en-IN" dirty="0"/>
          </a:p>
        </p:txBody>
      </p:sp>
      <p:pic>
        <p:nvPicPr>
          <p:cNvPr id="5" name="Picture 4">
            <a:extLst>
              <a:ext uri="{FF2B5EF4-FFF2-40B4-BE49-F238E27FC236}">
                <a16:creationId xmlns:a16="http://schemas.microsoft.com/office/drawing/2014/main" id="{82351B4D-36CD-DED9-9F94-B325906AA3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6056" y="548680"/>
            <a:ext cx="3240360" cy="4896544"/>
          </a:xfrm>
          <a:prstGeom prst="rect">
            <a:avLst/>
          </a:prstGeom>
        </p:spPr>
      </p:pic>
      <p:sp>
        <p:nvSpPr>
          <p:cNvPr id="7" name="TextBox 6">
            <a:extLst>
              <a:ext uri="{FF2B5EF4-FFF2-40B4-BE49-F238E27FC236}">
                <a16:creationId xmlns:a16="http://schemas.microsoft.com/office/drawing/2014/main" id="{CE3442CF-C479-B886-FE3C-B11335B388F3}"/>
              </a:ext>
            </a:extLst>
          </p:cNvPr>
          <p:cNvSpPr txBox="1"/>
          <p:nvPr/>
        </p:nvSpPr>
        <p:spPr>
          <a:xfrm>
            <a:off x="5580112" y="5733256"/>
            <a:ext cx="1997968" cy="369332"/>
          </a:xfrm>
          <a:prstGeom prst="rect">
            <a:avLst/>
          </a:prstGeom>
          <a:noFill/>
        </p:spPr>
        <p:txBody>
          <a:bodyPr wrap="square">
            <a:spAutoFit/>
          </a:bodyPr>
          <a:lstStyle/>
          <a:p>
            <a:r>
              <a:rPr lang="en-US" sz="1800" dirty="0">
                <a:effectLst/>
                <a:latin typeface="Times New Roman" panose="02020603050405020304" pitchFamily="18" charset="0"/>
                <a:ea typeface="Times New Roman" panose="02020603050405020304" pitchFamily="18" charset="0"/>
              </a:rPr>
              <a:t>Fig: LCD Output </a:t>
            </a:r>
            <a:endParaRPr lang="en-IN" dirty="0"/>
          </a:p>
        </p:txBody>
      </p:sp>
    </p:spTree>
    <p:extLst>
      <p:ext uri="{BB962C8B-B14F-4D97-AF65-F5344CB8AC3E}">
        <p14:creationId xmlns:p14="http://schemas.microsoft.com/office/powerpoint/2010/main" val="3824705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21E9D-EB0C-D334-1D08-7931260031B0}"/>
              </a:ext>
            </a:extLst>
          </p:cNvPr>
          <p:cNvSpPr>
            <a:spLocks noGrp="1"/>
          </p:cNvSpPr>
          <p:nvPr>
            <p:ph type="title"/>
          </p:nvPr>
        </p:nvSpPr>
        <p:spPr/>
        <p:txBody>
          <a:bodyPr>
            <a:normAutofit/>
          </a:bodyPr>
          <a:lstStyle/>
          <a:p>
            <a:pPr algn="ctr"/>
            <a:r>
              <a:rPr lang="en-IN" sz="2800" u="sng" dirty="0">
                <a:latin typeface="Gill Sans MT" panose="020B0502020104020203" pitchFamily="34" charset="0"/>
              </a:rPr>
              <a:t>FUTURE SCOPE</a:t>
            </a:r>
          </a:p>
        </p:txBody>
      </p:sp>
      <p:sp>
        <p:nvSpPr>
          <p:cNvPr id="3" name="Content Placeholder 2">
            <a:extLst>
              <a:ext uri="{FF2B5EF4-FFF2-40B4-BE49-F238E27FC236}">
                <a16:creationId xmlns:a16="http://schemas.microsoft.com/office/drawing/2014/main" id="{958997F6-9157-B016-D218-3D512F2D4AF7}"/>
              </a:ext>
            </a:extLst>
          </p:cNvPr>
          <p:cNvSpPr>
            <a:spLocks noGrp="1"/>
          </p:cNvSpPr>
          <p:nvPr>
            <p:ph idx="1"/>
          </p:nvPr>
        </p:nvSpPr>
        <p:spPr/>
        <p:txBody>
          <a:bodyPr/>
          <a:lstStyle/>
          <a:p>
            <a:pPr algn="just">
              <a:lnSpc>
                <a:spcPct val="150000"/>
              </a:lnSpc>
            </a:pPr>
            <a:r>
              <a:rPr lang="en-US" dirty="0">
                <a:latin typeface="Gill Sans MT" panose="020B0502020104020203" pitchFamily="34" charset="0"/>
              </a:rPr>
              <a:t>The future scope includes enhancing the system with AI for real-time risk prediction and proactive accident prevention. It can integrate with advanced communication networks like 5G for faster data transmission and provide cloud storage for detailed accident analysis.</a:t>
            </a:r>
          </a:p>
          <a:p>
            <a:pPr algn="just">
              <a:lnSpc>
                <a:spcPct val="150000"/>
              </a:lnSpc>
            </a:pPr>
            <a:r>
              <a:rPr lang="en-US" dirty="0">
                <a:latin typeface="Gill Sans MT" panose="020B0502020104020203" pitchFamily="34" charset="0"/>
              </a:rPr>
              <a:t>Additionally, expanding its compatibility with autonomous vehicles and making it affordable .</a:t>
            </a:r>
            <a:endParaRPr lang="en-IN" dirty="0">
              <a:latin typeface="Gill Sans MT" panose="020B0502020104020203" pitchFamily="34" charset="0"/>
            </a:endParaRPr>
          </a:p>
        </p:txBody>
      </p:sp>
    </p:spTree>
    <p:extLst>
      <p:ext uri="{BB962C8B-B14F-4D97-AF65-F5344CB8AC3E}">
        <p14:creationId xmlns:p14="http://schemas.microsoft.com/office/powerpoint/2010/main" val="4509611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365A6-4B4C-DCAF-2238-AE8882BC785E}"/>
              </a:ext>
            </a:extLst>
          </p:cNvPr>
          <p:cNvSpPr>
            <a:spLocks noGrp="1"/>
          </p:cNvSpPr>
          <p:nvPr>
            <p:ph type="title"/>
          </p:nvPr>
        </p:nvSpPr>
        <p:spPr/>
        <p:txBody>
          <a:bodyPr>
            <a:normAutofit/>
          </a:bodyPr>
          <a:lstStyle/>
          <a:p>
            <a:pPr algn="ctr"/>
            <a:r>
              <a:rPr lang="en-IN" sz="2800" u="sng" dirty="0">
                <a:latin typeface="Gill Sans MT" panose="020B0502020104020203" pitchFamily="34" charset="0"/>
              </a:rPr>
              <a:t>Conclusion</a:t>
            </a:r>
          </a:p>
        </p:txBody>
      </p:sp>
      <p:sp>
        <p:nvSpPr>
          <p:cNvPr id="3" name="Content Placeholder 2">
            <a:extLst>
              <a:ext uri="{FF2B5EF4-FFF2-40B4-BE49-F238E27FC236}">
                <a16:creationId xmlns:a16="http://schemas.microsoft.com/office/drawing/2014/main" id="{BA90D94A-8EDF-7B0E-FD09-8B71D4124DC9}"/>
              </a:ext>
            </a:extLst>
          </p:cNvPr>
          <p:cNvSpPr>
            <a:spLocks noGrp="1"/>
          </p:cNvSpPr>
          <p:nvPr>
            <p:ph idx="1"/>
          </p:nvPr>
        </p:nvSpPr>
        <p:spPr/>
        <p:txBody>
          <a:bodyPr/>
          <a:lstStyle/>
          <a:p>
            <a:pPr algn="just">
              <a:lnSpc>
                <a:spcPct val="150000"/>
              </a:lnSpc>
            </a:pPr>
            <a:r>
              <a:rPr lang="en-US" sz="2000" dirty="0">
                <a:effectLst/>
                <a:latin typeface="Gill Sans MT" panose="020B0502020104020203" pitchFamily="34" charset="0"/>
                <a:ea typeface="Times New Roman" panose="02020603050405020304" pitchFamily="18" charset="0"/>
              </a:rPr>
              <a:t>The proposed system significantly enhances road safety by integrating automatic vehicle shutdown upon detecting driver intoxication, real-time GPS location transmission during collisions, and fire detection alerts. These features collectively aim to reduce drunk driving incidents, improve emergency response times, and minimize accident casualties</a:t>
            </a:r>
            <a:r>
              <a:rPr lang="en-US" sz="1800" dirty="0">
                <a:effectLst/>
                <a:latin typeface="Times New Roman" panose="02020603050405020304" pitchFamily="18" charset="0"/>
                <a:ea typeface="Times New Roman" panose="02020603050405020304" pitchFamily="18" charset="0"/>
              </a:rPr>
              <a:t>. </a:t>
            </a:r>
          </a:p>
          <a:p>
            <a:pPr algn="just">
              <a:lnSpc>
                <a:spcPct val="150000"/>
              </a:lnSpc>
            </a:pPr>
            <a:r>
              <a:rPr lang="en-IN" sz="2000" dirty="0">
                <a:latin typeface="Gill Sans MT" panose="020B0502020104020203" pitchFamily="34" charset="0"/>
              </a:rPr>
              <a:t>Also, it shows the output in </a:t>
            </a:r>
            <a:r>
              <a:rPr lang="en-IN" sz="2000" dirty="0" err="1">
                <a:latin typeface="Gill Sans MT" panose="020B0502020104020203" pitchFamily="34" charset="0"/>
              </a:rPr>
              <a:t>thingspeak</a:t>
            </a:r>
            <a:r>
              <a:rPr lang="en-IN" sz="2000" dirty="0">
                <a:latin typeface="Gill Sans MT" panose="020B0502020104020203" pitchFamily="34" charset="0"/>
              </a:rPr>
              <a:t> platform in the form of graphs. </a:t>
            </a:r>
          </a:p>
        </p:txBody>
      </p:sp>
    </p:spTree>
    <p:extLst>
      <p:ext uri="{BB962C8B-B14F-4D97-AF65-F5344CB8AC3E}">
        <p14:creationId xmlns:p14="http://schemas.microsoft.com/office/powerpoint/2010/main" val="873541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A4860-85A4-F860-E0E2-0A2C0438FED1}"/>
              </a:ext>
            </a:extLst>
          </p:cNvPr>
          <p:cNvSpPr>
            <a:spLocks noGrp="1"/>
          </p:cNvSpPr>
          <p:nvPr>
            <p:ph type="title"/>
          </p:nvPr>
        </p:nvSpPr>
        <p:spPr/>
        <p:txBody>
          <a:bodyPr>
            <a:normAutofit/>
          </a:bodyPr>
          <a:lstStyle/>
          <a:p>
            <a:r>
              <a:rPr lang="en-US" sz="2800" u="sng" dirty="0">
                <a:latin typeface="Gill Sans MT" panose="020B0502020104020203" pitchFamily="34" charset="0"/>
                <a:cs typeface="Times New Roman" panose="02020603050405020304" pitchFamily="18" charset="0"/>
              </a:rPr>
              <a:t>REFERENCES</a:t>
            </a:r>
            <a:endParaRPr lang="en-IN" sz="2800" u="sng" dirty="0">
              <a:latin typeface="Gill Sans MT" panose="020B0502020104020203" pitchFamily="34"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3D528D-A7CB-19A2-07D9-92AABC659BE1}"/>
              </a:ext>
            </a:extLst>
          </p:cNvPr>
          <p:cNvSpPr>
            <a:spLocks noGrp="1"/>
          </p:cNvSpPr>
          <p:nvPr>
            <p:ph idx="1"/>
          </p:nvPr>
        </p:nvSpPr>
        <p:spPr/>
        <p:txBody>
          <a:bodyPr>
            <a:normAutofit fontScale="92500"/>
          </a:bodyPr>
          <a:lstStyle/>
          <a:p>
            <a:pPr marL="342900" indent="-342900">
              <a:lnSpc>
                <a:spcPct val="150000"/>
              </a:lnSpc>
              <a:buFont typeface="+mj-lt"/>
              <a:buAutoNum type="arabicPeriod"/>
            </a:pPr>
            <a:r>
              <a:rPr lang="en-IN" sz="1600" dirty="0">
                <a:latin typeface="Gill Sans MT" panose="020B0502020104020203" pitchFamily="34" charset="0"/>
              </a:rPr>
              <a:t>Ibrahim Kadri, </a:t>
            </a:r>
            <a:r>
              <a:rPr lang="en-IN" sz="1600" dirty="0" err="1">
                <a:latin typeface="Gill Sans MT" panose="020B0502020104020203" pitchFamily="34" charset="0"/>
              </a:rPr>
              <a:t>Boufeldja</a:t>
            </a:r>
            <a:r>
              <a:rPr lang="en-IN" sz="1600" dirty="0">
                <a:latin typeface="Gill Sans MT" panose="020B0502020104020203" pitchFamily="34" charset="0"/>
              </a:rPr>
              <a:t> Kadri, Mohamed </a:t>
            </a:r>
            <a:r>
              <a:rPr lang="en-IN" sz="1600" dirty="0" err="1">
                <a:latin typeface="Gill Sans MT" panose="020B0502020104020203" pitchFamily="34" charset="0"/>
              </a:rPr>
              <a:t>Beladgham</a:t>
            </a:r>
            <a:r>
              <a:rPr lang="en-IN" sz="1600" dirty="0">
                <a:latin typeface="Gill Sans MT" panose="020B0502020104020203" pitchFamily="34" charset="0"/>
              </a:rPr>
              <a:t>, and </a:t>
            </a:r>
            <a:r>
              <a:rPr lang="en-IN" sz="1600" dirty="0" err="1">
                <a:latin typeface="Gill Sans MT" panose="020B0502020104020203" pitchFamily="34" charset="0"/>
              </a:rPr>
              <a:t>Dahmane</a:t>
            </a:r>
            <a:r>
              <a:rPr lang="en-IN" sz="1600" dirty="0">
                <a:latin typeface="Gill Sans MT" panose="020B0502020104020203" pitchFamily="34" charset="0"/>
              </a:rPr>
              <a:t> Oussama Department of Electrical Engineering, </a:t>
            </a:r>
            <a:r>
              <a:rPr lang="en-IN" sz="1600" dirty="0" err="1">
                <a:latin typeface="Gill Sans MT" panose="020B0502020104020203" pitchFamily="34" charset="0"/>
              </a:rPr>
              <a:t>Tahri</a:t>
            </a:r>
            <a:r>
              <a:rPr lang="en-IN" sz="1600" dirty="0">
                <a:latin typeface="Gill Sans MT" panose="020B0502020104020203" pitchFamily="34" charset="0"/>
              </a:rPr>
              <a:t> </a:t>
            </a:r>
            <a:r>
              <a:rPr lang="en-IN" sz="1600" dirty="0" err="1">
                <a:latin typeface="Gill Sans MT" panose="020B0502020104020203" pitchFamily="34" charset="0"/>
              </a:rPr>
              <a:t>Shobitha</a:t>
            </a:r>
            <a:r>
              <a:rPr lang="en-IN" sz="1600" dirty="0">
                <a:latin typeface="Gill Sans MT" panose="020B0502020104020203" pitchFamily="34" charset="0"/>
              </a:rPr>
              <a:t>, </a:t>
            </a:r>
            <a:r>
              <a:rPr lang="en-IN" sz="1600" dirty="0" err="1">
                <a:latin typeface="Gill Sans MT" panose="020B0502020104020203" pitchFamily="34" charset="0"/>
              </a:rPr>
              <a:t>Anvitha</a:t>
            </a:r>
            <a:r>
              <a:rPr lang="en-IN" sz="1600" dirty="0">
                <a:latin typeface="Gill Sans MT" panose="020B0502020104020203" pitchFamily="34" charset="0"/>
              </a:rPr>
              <a:t> </a:t>
            </a:r>
            <a:r>
              <a:rPr lang="en-IN" sz="1600" dirty="0" err="1">
                <a:latin typeface="Gill Sans MT" panose="020B0502020104020203" pitchFamily="34" charset="0"/>
              </a:rPr>
              <a:t>Muthamma</a:t>
            </a:r>
            <a:r>
              <a:rPr lang="en-IN" sz="1600" dirty="0">
                <a:latin typeface="Gill Sans MT" panose="020B0502020104020203" pitchFamily="34" charset="0"/>
              </a:rPr>
              <a:t> K. C, 2021, Black Box for Automobiles, International Journal Of Engineering Research &amp; Technology (IJERT) NCCDS – 2021 (Volume 09-Issue 12)</a:t>
            </a:r>
          </a:p>
          <a:p>
            <a:pPr marL="342900" indent="-342900">
              <a:lnSpc>
                <a:spcPct val="150000"/>
              </a:lnSpc>
              <a:buFont typeface="+mj-lt"/>
              <a:buAutoNum type="arabicPeriod"/>
            </a:pPr>
            <a:r>
              <a:rPr lang="en-IN" sz="1600" dirty="0">
                <a:latin typeface="Gill Sans MT" panose="020B0502020104020203" pitchFamily="34" charset="0"/>
              </a:rPr>
              <a:t>Garcia-Barrientos, A.; Torres-Uresti, D.; Castillo-Soria, F.R.; </a:t>
            </a:r>
            <a:r>
              <a:rPr lang="en-IN" sz="1600" dirty="0" err="1">
                <a:latin typeface="Gill Sans MT" panose="020B0502020104020203" pitchFamily="34" charset="0"/>
              </a:rPr>
              <a:t>PinedaRico</a:t>
            </a:r>
            <a:r>
              <a:rPr lang="en-IN" sz="1600" dirty="0">
                <a:latin typeface="Gill Sans MT" panose="020B0502020104020203" pitchFamily="34" charset="0"/>
              </a:rPr>
              <a:t>, U.; </a:t>
            </a:r>
            <a:r>
              <a:rPr lang="en-IN" sz="1600" dirty="0" err="1">
                <a:latin typeface="Gill Sans MT" panose="020B0502020104020203" pitchFamily="34" charset="0"/>
              </a:rPr>
              <a:t>Hoyo-Montaño</a:t>
            </a:r>
            <a:r>
              <a:rPr lang="en-IN" sz="1600" dirty="0">
                <a:latin typeface="Gill Sans MT" panose="020B0502020104020203" pitchFamily="34" charset="0"/>
              </a:rPr>
              <a:t>, J.A.; Perez-Cortes, O.; </a:t>
            </a:r>
            <a:r>
              <a:rPr lang="en-IN" sz="1600" dirty="0" err="1">
                <a:latin typeface="Gill Sans MT" panose="020B0502020104020203" pitchFamily="34" charset="0"/>
              </a:rPr>
              <a:t>OrdazOliver</a:t>
            </a:r>
            <a:r>
              <a:rPr lang="en-IN" sz="1600" dirty="0">
                <a:latin typeface="Gill Sans MT" panose="020B0502020104020203" pitchFamily="34" charset="0"/>
              </a:rPr>
              <a:t>, P. Design and Implementation of a Car’s Black Box System Using a Raspberry Pi and a 4G Module. Appl. Sci. 2022, 12, 5730.</a:t>
            </a:r>
          </a:p>
          <a:p>
            <a:pPr marL="342900" indent="-342900">
              <a:lnSpc>
                <a:spcPct val="150000"/>
              </a:lnSpc>
              <a:buFont typeface="+mj-lt"/>
              <a:buAutoNum type="arabicPeriod"/>
            </a:pPr>
            <a:r>
              <a:rPr lang="en-IN" sz="1600" dirty="0">
                <a:latin typeface="Gill Sans MT" panose="020B0502020104020203" pitchFamily="34" charset="0"/>
              </a:rPr>
              <a:t>M. </a:t>
            </a:r>
            <a:r>
              <a:rPr lang="en-IN" sz="1600" dirty="0" err="1">
                <a:latin typeface="Gill Sans MT" panose="020B0502020104020203" pitchFamily="34" charset="0"/>
              </a:rPr>
              <a:t>Karrouchi</a:t>
            </a:r>
            <a:r>
              <a:rPr lang="en-IN" sz="1600" dirty="0">
                <a:latin typeface="Gill Sans MT" panose="020B0502020104020203" pitchFamily="34" charset="0"/>
              </a:rPr>
              <a:t>, I. Nasri, H. </a:t>
            </a:r>
            <a:r>
              <a:rPr lang="en-IN" sz="1600" dirty="0" err="1">
                <a:latin typeface="Gill Sans MT" panose="020B0502020104020203" pitchFamily="34" charset="0"/>
              </a:rPr>
              <a:t>Snoussi</a:t>
            </a:r>
            <a:r>
              <a:rPr lang="en-IN" sz="1600" dirty="0">
                <a:latin typeface="Gill Sans MT" panose="020B0502020104020203" pitchFamily="34" charset="0"/>
              </a:rPr>
              <a:t>, I. </a:t>
            </a:r>
            <a:r>
              <a:rPr lang="en-IN" sz="1600" dirty="0" err="1">
                <a:latin typeface="Gill Sans MT" panose="020B0502020104020203" pitchFamily="34" charset="0"/>
              </a:rPr>
              <a:t>Atmane</a:t>
            </a:r>
            <a:r>
              <a:rPr lang="en-IN" sz="1600" dirty="0">
                <a:latin typeface="Gill Sans MT" panose="020B0502020104020203" pitchFamily="34" charset="0"/>
              </a:rPr>
              <a:t>, A. </a:t>
            </a:r>
            <a:r>
              <a:rPr lang="en-IN" sz="1600" dirty="0" err="1">
                <a:latin typeface="Gill Sans MT" panose="020B0502020104020203" pitchFamily="34" charset="0"/>
              </a:rPr>
              <a:t>Messaoudi</a:t>
            </a:r>
            <a:r>
              <a:rPr lang="en-IN" sz="1600" dirty="0">
                <a:latin typeface="Gill Sans MT" panose="020B0502020104020203" pitchFamily="34" charset="0"/>
              </a:rPr>
              <a:t> and K. </a:t>
            </a:r>
            <a:r>
              <a:rPr lang="en-IN" sz="1600" dirty="0" err="1">
                <a:latin typeface="Gill Sans MT" panose="020B0502020104020203" pitchFamily="34" charset="0"/>
              </a:rPr>
              <a:t>Kassmi</a:t>
            </a:r>
            <a:r>
              <a:rPr lang="en-IN" sz="1600" dirty="0">
                <a:latin typeface="Gill Sans MT" panose="020B0502020104020203" pitchFamily="34" charset="0"/>
              </a:rPr>
              <a:t>, "Black box system for car/driver monitoring to decrease the reasons of road crashes," 2021 4th International Symposium on Advanced Electrical and Communication Technologies (ISAECT), </a:t>
            </a:r>
            <a:r>
              <a:rPr lang="en-IN" sz="1600" dirty="0" err="1">
                <a:latin typeface="Gill Sans MT" panose="020B0502020104020203" pitchFamily="34" charset="0"/>
              </a:rPr>
              <a:t>Alkhobar</a:t>
            </a:r>
            <a:r>
              <a:rPr lang="en-IN" sz="1600" dirty="0">
                <a:latin typeface="Gill Sans MT" panose="020B0502020104020203" pitchFamily="34" charset="0"/>
              </a:rPr>
              <a:t>, Saudi Arabia, 2021, pp. 01-06, </a:t>
            </a:r>
            <a:r>
              <a:rPr lang="en-IN" sz="1600" dirty="0" err="1">
                <a:latin typeface="Gill Sans MT" panose="020B0502020104020203" pitchFamily="34" charset="0"/>
              </a:rPr>
              <a:t>doi</a:t>
            </a:r>
            <a:r>
              <a:rPr lang="en-IN" sz="1600" dirty="0">
                <a:latin typeface="Gill Sans MT" panose="020B0502020104020203" pitchFamily="34" charset="0"/>
              </a:rPr>
              <a:t>: 10.1109/ISAECT53699.2021.9668545. </a:t>
            </a:r>
          </a:p>
        </p:txBody>
      </p:sp>
      <p:pic>
        <p:nvPicPr>
          <p:cNvPr id="4" name="image1.png">
            <a:extLst>
              <a:ext uri="{FF2B5EF4-FFF2-40B4-BE49-F238E27FC236}">
                <a16:creationId xmlns:a16="http://schemas.microsoft.com/office/drawing/2014/main" id="{929314A7-4229-BF84-5025-50AC6BB9F641}"/>
              </a:ext>
            </a:extLst>
          </p:cNvPr>
          <p:cNvPicPr/>
          <p:nvPr/>
        </p:nvPicPr>
        <p:blipFill>
          <a:blip r:embed="rId2" cstate="print"/>
          <a:stretch>
            <a:fillRect/>
          </a:stretch>
        </p:blipFill>
        <p:spPr>
          <a:xfrm>
            <a:off x="7884368" y="214290"/>
            <a:ext cx="1057894" cy="838446"/>
          </a:xfrm>
          <a:prstGeom prst="rect">
            <a:avLst/>
          </a:prstGeom>
        </p:spPr>
      </p:pic>
    </p:spTree>
    <p:extLst>
      <p:ext uri="{BB962C8B-B14F-4D97-AF65-F5344CB8AC3E}">
        <p14:creationId xmlns:p14="http://schemas.microsoft.com/office/powerpoint/2010/main" val="2856062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EEEFF8-F540-64C1-6227-397C7153C7ED}"/>
              </a:ext>
            </a:extLst>
          </p:cNvPr>
          <p:cNvSpPr>
            <a:spLocks noGrp="1"/>
          </p:cNvSpPr>
          <p:nvPr>
            <p:ph idx="1"/>
          </p:nvPr>
        </p:nvSpPr>
        <p:spPr>
          <a:xfrm>
            <a:off x="628650" y="548680"/>
            <a:ext cx="7886700" cy="5556275"/>
          </a:xfrm>
        </p:spPr>
        <p:txBody>
          <a:bodyPr>
            <a:normAutofit fontScale="92500" lnSpcReduction="10000"/>
          </a:bodyPr>
          <a:lstStyle/>
          <a:p>
            <a:pPr algn="just">
              <a:lnSpc>
                <a:spcPct val="150000"/>
              </a:lnSpc>
              <a:spcAft>
                <a:spcPts val="1000"/>
              </a:spcAft>
              <a:buNone/>
            </a:pPr>
            <a:r>
              <a:rPr lang="en-US" sz="1800" dirty="0">
                <a:latin typeface="Gill Sans MT" panose="020B0502020104020203" pitchFamily="34" charset="0"/>
                <a:ea typeface="Times New Roman" panose="02020603050405020304" pitchFamily="18" charset="0"/>
                <a:cs typeface="Times New Roman" panose="02020603050405020304" pitchFamily="18" charset="0"/>
              </a:rPr>
              <a:t>4. </a:t>
            </a:r>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 Md. Shaad Mahmud, </a:t>
            </a:r>
            <a:r>
              <a:rPr lang="en-US" sz="1800" dirty="0" err="1">
                <a:effectLst/>
                <a:latin typeface="Gill Sans MT" panose="020B0502020104020203" pitchFamily="34" charset="0"/>
                <a:ea typeface="Times New Roman" panose="02020603050405020304" pitchFamily="18" charset="0"/>
                <a:cs typeface="Times New Roman" panose="02020603050405020304" pitchFamily="18" charset="0"/>
              </a:rPr>
              <a:t>Honggang</a:t>
            </a:r>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 Wang, </a:t>
            </a:r>
            <a:r>
              <a:rPr lang="en-US" sz="1800" dirty="0" err="1">
                <a:effectLst/>
                <a:latin typeface="Gill Sans MT" panose="020B0502020104020203" pitchFamily="34" charset="0"/>
                <a:ea typeface="Times New Roman" panose="02020603050405020304" pitchFamily="18" charset="0"/>
                <a:cs typeface="Times New Roman" panose="02020603050405020304" pitchFamily="18" charset="0"/>
              </a:rPr>
              <a:t>A.M.Esfar</a:t>
            </a:r>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-E-Alam and Hua Fang has focused on “A Wireless Health Monitoring System Using Mobile Phone Accessories”, Proc-IEEE, vol.1, no.99, pp-2327-4662 2016</a:t>
            </a:r>
            <a:endParaRPr lang="en-IN" sz="1800" dirty="0">
              <a:effectLst/>
              <a:latin typeface="Gill Sans MT" panose="020B0502020104020203" pitchFamily="34" charset="0"/>
              <a:ea typeface="Times New Roman" panose="02020603050405020304" pitchFamily="18" charset="0"/>
              <a:cs typeface="Times New Roman" panose="02020603050405020304" pitchFamily="18" charset="0"/>
            </a:endParaRPr>
          </a:p>
          <a:p>
            <a:pPr algn="just">
              <a:lnSpc>
                <a:spcPct val="150000"/>
              </a:lnSpc>
              <a:spcAft>
                <a:spcPts val="1000"/>
              </a:spcAft>
              <a:buNone/>
            </a:pPr>
            <a:r>
              <a:rPr lang="en-US" sz="1800" dirty="0">
                <a:latin typeface="Gill Sans MT" panose="020B0502020104020203" pitchFamily="34" charset="0"/>
                <a:ea typeface="Times New Roman" panose="02020603050405020304" pitchFamily="18" charset="0"/>
                <a:cs typeface="Times New Roman" panose="02020603050405020304" pitchFamily="18" charset="0"/>
              </a:rPr>
              <a:t>5.</a:t>
            </a:r>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 Sarika R. Gujar and Prof. A. R. Itkikar have focused on “Advanced Embedded System of Vehicle Accident Detection and Tracking System”, Proc-IEEE, vol.5, no.2, pp- 2277 128X 2015</a:t>
            </a:r>
            <a:endParaRPr lang="en-IN" sz="1800" dirty="0">
              <a:effectLst/>
              <a:latin typeface="Gill Sans MT" panose="020B0502020104020203" pitchFamily="34" charset="0"/>
              <a:ea typeface="Times New Roman" panose="02020603050405020304" pitchFamily="18" charset="0"/>
              <a:cs typeface="Times New Roman" panose="02020603050405020304" pitchFamily="18" charset="0"/>
            </a:endParaRPr>
          </a:p>
          <a:p>
            <a:pPr algn="just">
              <a:lnSpc>
                <a:spcPct val="150000"/>
              </a:lnSpc>
              <a:spcAft>
                <a:spcPts val="1000"/>
              </a:spcAft>
              <a:buNone/>
            </a:pPr>
            <a:r>
              <a:rPr lang="en-US" sz="1800" dirty="0">
                <a:latin typeface="Gill Sans MT" panose="020B0502020104020203" pitchFamily="34" charset="0"/>
                <a:ea typeface="Times New Roman" panose="02020603050405020304" pitchFamily="18" charset="0"/>
                <a:cs typeface="Times New Roman" panose="02020603050405020304" pitchFamily="18" charset="0"/>
              </a:rPr>
              <a:t>6. </a:t>
            </a:r>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 </a:t>
            </a:r>
            <a:r>
              <a:rPr lang="en-US" sz="1800" dirty="0" err="1">
                <a:effectLst/>
                <a:latin typeface="Gill Sans MT" panose="020B0502020104020203" pitchFamily="34" charset="0"/>
                <a:ea typeface="Times New Roman" panose="02020603050405020304" pitchFamily="18" charset="0"/>
                <a:cs typeface="Times New Roman" panose="02020603050405020304" pitchFamily="18" charset="0"/>
              </a:rPr>
              <a:t>Zaobo</a:t>
            </a:r>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 He, Zhipeng Cai, </a:t>
            </a:r>
            <a:r>
              <a:rPr lang="en-US" sz="1800" dirty="0" err="1">
                <a:effectLst/>
                <a:latin typeface="Gill Sans MT" panose="020B0502020104020203" pitchFamily="34" charset="0"/>
                <a:ea typeface="Times New Roman" panose="02020603050405020304" pitchFamily="18" charset="0"/>
                <a:cs typeface="Times New Roman" panose="02020603050405020304" pitchFamily="18" charset="0"/>
              </a:rPr>
              <a:t>Jiguo</a:t>
            </a:r>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 Yu, Xiaoming Wang, </a:t>
            </a:r>
            <a:r>
              <a:rPr lang="en-US" sz="1800" dirty="0" err="1">
                <a:effectLst/>
                <a:latin typeface="Gill Sans MT" panose="020B0502020104020203" pitchFamily="34" charset="0"/>
                <a:ea typeface="Times New Roman" panose="02020603050405020304" pitchFamily="18" charset="0"/>
                <a:cs typeface="Times New Roman" panose="02020603050405020304" pitchFamily="18" charset="0"/>
              </a:rPr>
              <a:t>Yunchuan</a:t>
            </a:r>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 Sun, and </a:t>
            </a:r>
            <a:r>
              <a:rPr lang="en-US" sz="1800" dirty="0" err="1">
                <a:effectLst/>
                <a:latin typeface="Gill Sans MT" panose="020B0502020104020203" pitchFamily="34" charset="0"/>
                <a:ea typeface="Times New Roman" panose="02020603050405020304" pitchFamily="18" charset="0"/>
                <a:cs typeface="Times New Roman" panose="02020603050405020304" pitchFamily="18" charset="0"/>
              </a:rPr>
              <a:t>Yingshu</a:t>
            </a:r>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 Li, has discussed on “Cost-Efficient Strategies for Restraining Rumor Spreading in Mobile Social Networks”, Proc-IEEE, vol.66, no.3 2017</a:t>
            </a:r>
            <a:endParaRPr lang="en-IN" sz="1800" dirty="0">
              <a:effectLst/>
              <a:latin typeface="Gill Sans MT" panose="020B0502020104020203" pitchFamily="34" charset="0"/>
              <a:ea typeface="Times New Roman" panose="02020603050405020304" pitchFamily="18" charset="0"/>
              <a:cs typeface="Times New Roman" panose="02020603050405020304" pitchFamily="18" charset="0"/>
            </a:endParaRPr>
          </a:p>
          <a:p>
            <a:pPr marL="0" indent="0" algn="just">
              <a:lnSpc>
                <a:spcPct val="150000"/>
              </a:lnSpc>
              <a:spcAft>
                <a:spcPts val="1000"/>
              </a:spcAft>
              <a:buNone/>
            </a:pPr>
            <a:r>
              <a:rPr lang="en-US" sz="1800" dirty="0">
                <a:latin typeface="Gill Sans MT" panose="020B0502020104020203" pitchFamily="34" charset="0"/>
                <a:ea typeface="Times New Roman" panose="02020603050405020304" pitchFamily="18" charset="0"/>
                <a:cs typeface="Times New Roman" panose="02020603050405020304" pitchFamily="18" charset="0"/>
              </a:rPr>
              <a:t>7.</a:t>
            </a:r>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 Hyung-Sin Kim, </a:t>
            </a:r>
            <a:r>
              <a:rPr lang="en-US" sz="1800" dirty="0" err="1">
                <a:effectLst/>
                <a:latin typeface="Gill Sans MT" panose="020B0502020104020203" pitchFamily="34" charset="0"/>
                <a:ea typeface="Times New Roman" panose="02020603050405020304" pitchFamily="18" charset="0"/>
                <a:cs typeface="Times New Roman" panose="02020603050405020304" pitchFamily="18" charset="0"/>
              </a:rPr>
              <a:t>Hongchan</a:t>
            </a:r>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 Kim, </a:t>
            </a:r>
            <a:r>
              <a:rPr lang="en-US" sz="1800" dirty="0" err="1">
                <a:effectLst/>
                <a:latin typeface="Gill Sans MT" panose="020B0502020104020203" pitchFamily="34" charset="0"/>
                <a:ea typeface="Times New Roman" panose="02020603050405020304" pitchFamily="18" charset="0"/>
                <a:cs typeface="Times New Roman" panose="02020603050405020304" pitchFamily="18" charset="0"/>
              </a:rPr>
              <a:t>Jeongyeuo</a:t>
            </a:r>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 Paek, and </a:t>
            </a:r>
            <a:r>
              <a:rPr lang="en-US" sz="1800" dirty="0" err="1">
                <a:effectLst/>
                <a:latin typeface="Gill Sans MT" panose="020B0502020104020203" pitchFamily="34" charset="0"/>
                <a:ea typeface="Times New Roman" panose="02020603050405020304" pitchFamily="18" charset="0"/>
                <a:cs typeface="Times New Roman" panose="02020603050405020304" pitchFamily="18" charset="0"/>
              </a:rPr>
              <a:t>Saewoong</a:t>
            </a:r>
            <a:r>
              <a:rPr lang="en-US" sz="1800" dirty="0">
                <a:effectLst/>
                <a:latin typeface="Gill Sans MT" panose="020B0502020104020203" pitchFamily="34" charset="0"/>
                <a:ea typeface="Times New Roman" panose="02020603050405020304" pitchFamily="18" charset="0"/>
                <a:cs typeface="Times New Roman" panose="02020603050405020304" pitchFamily="18" charset="0"/>
              </a:rPr>
              <a:t> Bahk have discussed on “Load Balancing Under Heavy Traffic in RPL Routing Protocol for Low Power and Lossy Networks”, Proc-IEEE, vol. 16, no.4, pp. 1536-1233 2017</a:t>
            </a:r>
            <a:endParaRPr lang="en-IN" sz="1800" dirty="0">
              <a:effectLst/>
              <a:latin typeface="Gill Sans MT" panose="020B0502020104020203" pitchFamily="34"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044731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B5DA98-8E92-D662-8AA1-6ACE9851A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0259" y="995023"/>
            <a:ext cx="5963482" cy="4867954"/>
          </a:xfrm>
          <a:prstGeom prst="rect">
            <a:avLst/>
          </a:prstGeom>
        </p:spPr>
      </p:pic>
      <p:pic>
        <p:nvPicPr>
          <p:cNvPr id="2" name="image1.png">
            <a:extLst>
              <a:ext uri="{FF2B5EF4-FFF2-40B4-BE49-F238E27FC236}">
                <a16:creationId xmlns:a16="http://schemas.microsoft.com/office/drawing/2014/main" id="{8B345AB5-6D7B-87BF-B7EB-3C0F6A31CD21}"/>
              </a:ext>
            </a:extLst>
          </p:cNvPr>
          <p:cNvPicPr/>
          <p:nvPr/>
        </p:nvPicPr>
        <p:blipFill>
          <a:blip r:embed="rId3" cstate="print"/>
          <a:stretch>
            <a:fillRect/>
          </a:stretch>
        </p:blipFill>
        <p:spPr>
          <a:xfrm>
            <a:off x="7884368" y="214290"/>
            <a:ext cx="1057894" cy="838446"/>
          </a:xfrm>
          <a:prstGeom prst="rect">
            <a:avLst/>
          </a:prstGeom>
        </p:spPr>
      </p:pic>
    </p:spTree>
    <p:extLst>
      <p:ext uri="{BB962C8B-B14F-4D97-AF65-F5344CB8AC3E}">
        <p14:creationId xmlns:p14="http://schemas.microsoft.com/office/powerpoint/2010/main" val="1165721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853</TotalTime>
  <Words>2563</Words>
  <Application>Microsoft Office PowerPoint</Application>
  <PresentationFormat>On-screen Show (4:3)</PresentationFormat>
  <Paragraphs>148</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Calibri Light</vt:lpstr>
      <vt:lpstr>Gill Sans MT</vt:lpstr>
      <vt:lpstr>Times New Roman</vt:lpstr>
      <vt:lpstr>Verdana</vt:lpstr>
      <vt:lpstr>Wingdings</vt:lpstr>
      <vt:lpstr>Office Theme</vt:lpstr>
      <vt:lpstr>PowerPoint Presentation</vt:lpstr>
      <vt:lpstr>PowerPoint Presentation</vt:lpstr>
      <vt:lpstr>ABSTRACT</vt:lpstr>
      <vt:lpstr>OBJECTIVE</vt:lpstr>
      <vt:lpstr>INTRODUCTION</vt:lpstr>
      <vt:lpstr>PowerPoint Presentation</vt:lpstr>
      <vt:lpstr>PowerPoint Presentation</vt:lpstr>
      <vt:lpstr>EXISTING SYSTEM</vt:lpstr>
      <vt:lpstr>PROPOSED SYSTEM</vt:lpstr>
      <vt:lpstr>PowerPoint Presentation</vt:lpstr>
      <vt:lpstr>Hardware used :</vt:lpstr>
      <vt:lpstr>Arduino Uno </vt:lpstr>
      <vt:lpstr>LCD (Liquid Cristal Display) </vt:lpstr>
      <vt:lpstr>FIRE sensor</vt:lpstr>
      <vt:lpstr>GSM (Global System for Mobile communications)</vt:lpstr>
      <vt:lpstr>dc motor</vt:lpstr>
      <vt:lpstr>Softwares Used:</vt:lpstr>
      <vt:lpstr>Operation: </vt:lpstr>
      <vt:lpstr>ADVANTAGES</vt:lpstr>
      <vt:lpstr>Applications </vt:lpstr>
      <vt:lpstr>RESULTS</vt:lpstr>
      <vt:lpstr>PowerPoint Presentation</vt:lpstr>
      <vt:lpstr>Output explanation</vt:lpstr>
      <vt:lpstr>Output in LCD </vt:lpstr>
      <vt:lpstr>PowerPoint Presentation</vt:lpstr>
      <vt:lpstr>FUTURE SCOPE</vt:lpstr>
      <vt:lpstr>Conclusion</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dc:creator>
  <cp:lastModifiedBy>Gowthami Malipeddi</cp:lastModifiedBy>
  <cp:revision>121</cp:revision>
  <dcterms:created xsi:type="dcterms:W3CDTF">2021-03-29T07:16:00Z</dcterms:created>
  <dcterms:modified xsi:type="dcterms:W3CDTF">2025-04-15T05:11:58Z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3165C3730A4D4E1DBF6ADF6F76EAB126_12</vt:lpwstr>
  </property>
  <property fmtid="{D5CDD505-2E9C-101B-9397-08002B2CF9AE}" pid="3" name="KSOProductBuildVer">
    <vt:lpwstr>1033-12.2.0.18911</vt:lpwstr>
  </property>
</Properties>
</file>